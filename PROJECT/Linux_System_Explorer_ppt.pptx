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5" r:id="rId16"/>
    <p:sldId id="266" r:id="rId17"/>
    <p:sldId id="267" r:id="rId18"/>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8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949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0042" y="-1083391"/>
            <a:ext cx="4114800" cy="4114800"/>
          </a:xfrm>
          <a:prstGeom prst="ellipse">
            <a:avLst/>
          </a:prstGeom>
          <a:solidFill>
            <a:srgbClr val="3B4CA0">
              <a:alpha val="40000"/>
            </a:srgbClr>
          </a:solidFill>
          <a:ln/>
        </p:spPr>
      </p:sp>
      <p:sp>
        <p:nvSpPr>
          <p:cNvPr id="3" name="Shape 1"/>
          <p:cNvSpPr/>
          <p:nvPr/>
        </p:nvSpPr>
        <p:spPr>
          <a:xfrm>
            <a:off x="-1463040" y="4937760"/>
            <a:ext cx="3291840" cy="3291840"/>
          </a:xfrm>
          <a:prstGeom prst="ellipse">
            <a:avLst/>
          </a:prstGeom>
          <a:solidFill>
            <a:srgbClr val="3B4CA0">
              <a:alpha val="40000"/>
            </a:srgbClr>
          </a:solidFill>
          <a:ln/>
        </p:spPr>
        <p:txBody>
          <a:bodyPr/>
          <a:lstStyle/>
          <a:p>
            <a:endParaRPr lang="en-AU" dirty="0"/>
          </a:p>
        </p:txBody>
      </p:sp>
      <p:sp>
        <p:nvSpPr>
          <p:cNvPr id="4" name="Text 2"/>
          <p:cNvSpPr/>
          <p:nvPr/>
        </p:nvSpPr>
        <p:spPr>
          <a:xfrm>
            <a:off x="822960" y="1965960"/>
            <a:ext cx="9144000" cy="365760"/>
          </a:xfrm>
          <a:prstGeom prst="rect">
            <a:avLst/>
          </a:prstGeom>
          <a:noFill/>
          <a:ln/>
        </p:spPr>
        <p:txBody>
          <a:bodyPr wrap="square"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OPERATING SYSTEMS &amp; SYSTEMS PROGRAMMING</a:t>
            </a:r>
            <a:endParaRPr lang="en-US" sz="1400" dirty="0"/>
          </a:p>
        </p:txBody>
      </p:sp>
      <p:sp>
        <p:nvSpPr>
          <p:cNvPr id="5" name="Text 3"/>
          <p:cNvSpPr/>
          <p:nvPr/>
        </p:nvSpPr>
        <p:spPr>
          <a:xfrm>
            <a:off x="822960" y="2377440"/>
            <a:ext cx="1005840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Linux System Explorer</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Interactive Operating System Toolkit</a:t>
            </a:r>
            <a:endParaRPr lang="en-US" sz="4000" dirty="0"/>
          </a:p>
        </p:txBody>
      </p:sp>
      <p:sp>
        <p:nvSpPr>
          <p:cNvPr id="6" name="Text 4"/>
          <p:cNvSpPr/>
          <p:nvPr/>
        </p:nvSpPr>
        <p:spPr>
          <a:xfrm>
            <a:off x="822960" y="4160520"/>
            <a:ext cx="10058400" cy="54864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Explore files, processes, memory, IPC, concurrency and system calls through an interactive interface</a:t>
            </a:r>
            <a:endParaRPr lang="en-US" sz="1600" dirty="0"/>
          </a:p>
        </p:txBody>
      </p:sp>
      <p:sp>
        <p:nvSpPr>
          <p:cNvPr id="8" name="Text 6"/>
          <p:cNvSpPr/>
          <p:nvPr/>
        </p:nvSpPr>
        <p:spPr>
          <a:xfrm>
            <a:off x="822960" y="5018567"/>
            <a:ext cx="7315200" cy="1336513"/>
          </a:xfrm>
          <a:prstGeom prst="rect">
            <a:avLst/>
          </a:prstGeom>
          <a:noFill/>
          <a:ln/>
        </p:spPr>
        <p:txBody>
          <a:bodyPr wrap="square" rtlCol="0" anchor="ctr"/>
          <a:lstStyle/>
          <a:p>
            <a:pPr marL="0" indent="0">
              <a:buNone/>
            </a:pPr>
            <a:r>
              <a:rPr lang="en-US" sz="1600" dirty="0" err="1">
                <a:solidFill>
                  <a:srgbClr val="CADCFC"/>
                </a:solidFill>
                <a:latin typeface="Calibri" pitchFamily="34" charset="0"/>
                <a:ea typeface="Calibri" pitchFamily="34" charset="-122"/>
                <a:cs typeface="Calibri" pitchFamily="34" charset="-120"/>
              </a:rPr>
              <a:t>M.Bhavya</a:t>
            </a:r>
            <a:r>
              <a:rPr lang="en-US" sz="1600" dirty="0">
                <a:solidFill>
                  <a:srgbClr val="CADCFC"/>
                </a:solidFill>
                <a:latin typeface="Calibri" pitchFamily="34" charset="0"/>
                <a:ea typeface="Calibri" pitchFamily="34" charset="-122"/>
                <a:cs typeface="Calibri" pitchFamily="34" charset="-120"/>
              </a:rPr>
              <a:t> 2520030005</a:t>
            </a:r>
          </a:p>
          <a:p>
            <a:pPr marL="0" indent="0">
              <a:buNone/>
            </a:pPr>
            <a:r>
              <a:rPr lang="en-US" sz="1600" dirty="0" err="1">
                <a:solidFill>
                  <a:srgbClr val="CADCFC"/>
                </a:solidFill>
                <a:latin typeface="Calibri" pitchFamily="34" charset="0"/>
                <a:ea typeface="Calibri" pitchFamily="34" charset="-122"/>
                <a:cs typeface="Calibri" pitchFamily="34" charset="-120"/>
              </a:rPr>
              <a:t>G.Keerthi</a:t>
            </a:r>
            <a:r>
              <a:rPr lang="en-US" sz="1600" dirty="0">
                <a:solidFill>
                  <a:srgbClr val="CADCFC"/>
                </a:solidFill>
                <a:latin typeface="Calibri" pitchFamily="34" charset="0"/>
                <a:ea typeface="Calibri" pitchFamily="34" charset="-122"/>
                <a:cs typeface="Calibri" pitchFamily="34" charset="-120"/>
              </a:rPr>
              <a:t> 2520030092</a:t>
            </a:r>
          </a:p>
          <a:p>
            <a:pPr marL="0" indent="0">
              <a:buNone/>
            </a:pPr>
            <a:r>
              <a:rPr lang="en-US" sz="1600" dirty="0" err="1">
                <a:solidFill>
                  <a:srgbClr val="CADCFC"/>
                </a:solidFill>
                <a:latin typeface="Calibri" pitchFamily="34" charset="0"/>
                <a:ea typeface="Calibri" pitchFamily="34" charset="-122"/>
                <a:cs typeface="Calibri" pitchFamily="34" charset="-120"/>
              </a:rPr>
              <a:t>K.Sanjana</a:t>
            </a:r>
            <a:r>
              <a:rPr lang="en-US" sz="1600" dirty="0">
                <a:solidFill>
                  <a:srgbClr val="CADCFC"/>
                </a:solidFill>
                <a:latin typeface="Calibri" pitchFamily="34" charset="0"/>
                <a:ea typeface="Calibri" pitchFamily="34" charset="-122"/>
                <a:cs typeface="Calibri" pitchFamily="34" charset="-120"/>
              </a:rPr>
              <a:t> 2520030229</a:t>
            </a:r>
          </a:p>
          <a:p>
            <a:pPr marL="0" indent="0">
              <a:buNone/>
            </a:pPr>
            <a:endParaRPr lang="en-US" sz="1600" dirty="0">
              <a:solidFill>
                <a:srgbClr val="CADCFC"/>
              </a:solidFill>
              <a:latin typeface="Calibri" pitchFamily="34" charset="0"/>
              <a:ea typeface="Calibri" pitchFamily="34" charset="-122"/>
              <a:cs typeface="Calibri" pitchFamily="34" charset="-120"/>
            </a:endParaRPr>
          </a:p>
          <a:p>
            <a:pPr marL="0" indent="0">
              <a:buNone/>
            </a:pPr>
            <a:r>
              <a:rPr lang="en-US" sz="1600" dirty="0">
                <a:solidFill>
                  <a:srgbClr val="CADCFC"/>
                </a:solidFill>
                <a:latin typeface="Calibri" pitchFamily="34" charset="0"/>
                <a:ea typeface="Calibri" pitchFamily="34" charset="-122"/>
                <a:cs typeface="Calibri" pitchFamily="34" charset="-120"/>
              </a:rPr>
              <a:t>Term-12, S-4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Abstract</a:t>
            </a:r>
            <a:endParaRPr lang="en-US" sz="3200" dirty="0"/>
          </a:p>
        </p:txBody>
      </p:sp>
      <p:sp>
        <p:nvSpPr>
          <p:cNvPr id="4" name="Shape 2"/>
          <p:cNvSpPr/>
          <p:nvPr/>
        </p:nvSpPr>
        <p:spPr>
          <a:xfrm>
            <a:off x="548640" y="1691640"/>
            <a:ext cx="11064240" cy="4206240"/>
          </a:xfrm>
          <a:prstGeom prst="roundRect">
            <a:avLst>
              <a:gd name="adj" fmla="val 2609"/>
            </a:avLst>
          </a:prstGeom>
          <a:solidFill>
            <a:srgbClr val="F3F6FC"/>
          </a:solidFill>
          <a:ln/>
        </p:spPr>
      </p:sp>
      <p:sp>
        <p:nvSpPr>
          <p:cNvPr id="5" name="Text 3"/>
          <p:cNvSpPr/>
          <p:nvPr/>
        </p:nvSpPr>
        <p:spPr>
          <a:xfrm>
            <a:off x="914400" y="1965960"/>
            <a:ext cx="6400800" cy="3566160"/>
          </a:xfrm>
          <a:prstGeom prst="rect">
            <a:avLst/>
          </a:prstGeom>
          <a:noFill/>
          <a:ln/>
        </p:spPr>
        <p:txBody>
          <a:bodyPr wrap="square" rtlCol="0" anchor="t"/>
          <a:lstStyle/>
          <a:p>
            <a:pPr marL="0" indent="0">
              <a:lnSpc>
                <a:spcPct val="125000"/>
              </a:lnSpc>
              <a:buNone/>
            </a:pPr>
            <a:r>
              <a:rPr lang="en-US" sz="1500" dirty="0">
                <a:solidFill>
                  <a:srgbClr val="1B1F3B"/>
                </a:solidFill>
                <a:latin typeface="Calibri" pitchFamily="34" charset="0"/>
                <a:ea typeface="Calibri" pitchFamily="34" charset="-122"/>
                <a:cs typeface="Calibri" pitchFamily="34" charset="-120"/>
              </a:rPr>
              <a:t>Linux System Explorer is an interactive, Linux-based systems programming toolkit that demonstrates how an operating system delivers its services through system calls. Its six modules — File Explorer, Process Explorer, Virtual Memory, IPC Demonstrator, File Analyzer and System Call Trace — let users explore files, running processes, memory allocation, inter-process communication and concurrent file processing, while observing the system calls behind each operation.</a:t>
            </a:r>
            <a:endParaRPr lang="en-US" sz="1500" dirty="0"/>
          </a:p>
        </p:txBody>
      </p:sp>
      <p:sp>
        <p:nvSpPr>
          <p:cNvPr id="6" name="Shape 4"/>
          <p:cNvSpPr/>
          <p:nvPr/>
        </p:nvSpPr>
        <p:spPr>
          <a:xfrm>
            <a:off x="7635240" y="2011680"/>
            <a:ext cx="0" cy="3474720"/>
          </a:xfrm>
          <a:prstGeom prst="line">
            <a:avLst/>
          </a:prstGeom>
          <a:noFill/>
          <a:ln w="19050">
            <a:solidFill>
              <a:srgbClr val="CADCFC"/>
            </a:solidFill>
            <a:prstDash val="solid"/>
          </a:ln>
        </p:spPr>
      </p:sp>
      <p:sp>
        <p:nvSpPr>
          <p:cNvPr id="7" name="Shape 5"/>
          <p:cNvSpPr/>
          <p:nvPr/>
        </p:nvSpPr>
        <p:spPr>
          <a:xfrm>
            <a:off x="8001000" y="2057400"/>
            <a:ext cx="457200" cy="457200"/>
          </a:xfrm>
          <a:prstGeom prst="ellipse">
            <a:avLst/>
          </a:prstGeom>
          <a:solidFill>
            <a:srgbClr val="1E2761"/>
          </a:solidFill>
          <a:ln/>
        </p:spPr>
      </p:sp>
      <p:sp>
        <p:nvSpPr>
          <p:cNvPr id="8" name="Text 6"/>
          <p:cNvSpPr/>
          <p:nvPr/>
        </p:nvSpPr>
        <p:spPr>
          <a:xfrm>
            <a:off x="8001000"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9" name="Text 7"/>
          <p:cNvSpPr/>
          <p:nvPr/>
        </p:nvSpPr>
        <p:spPr>
          <a:xfrm>
            <a:off x="8595360" y="2002536"/>
            <a:ext cx="2834640" cy="320040"/>
          </a:xfrm>
          <a:prstGeom prst="rect">
            <a:avLst/>
          </a:prstGeom>
          <a:noFill/>
          <a:ln/>
        </p:spPr>
        <p:txBody>
          <a:bodyPr wrap="square" rtlCol="0" anchor="ctr"/>
          <a:lstStyle/>
          <a:p>
            <a:pPr marL="0" indent="0">
              <a:buNone/>
            </a:pPr>
            <a:r>
              <a:rPr lang="en-US" sz="1250" b="1" dirty="0">
                <a:solidFill>
                  <a:srgbClr val="3B4CA0"/>
                </a:solidFill>
                <a:latin typeface="Calibri" pitchFamily="34" charset="0"/>
                <a:ea typeface="Calibri" pitchFamily="34" charset="-122"/>
                <a:cs typeface="Calibri" pitchFamily="34" charset="-120"/>
              </a:rPr>
              <a:t>Focus Areas</a:t>
            </a:r>
            <a:endParaRPr lang="en-US" sz="1250" dirty="0"/>
          </a:p>
        </p:txBody>
      </p:sp>
      <p:sp>
        <p:nvSpPr>
          <p:cNvPr id="10" name="Text 8"/>
          <p:cNvSpPr/>
          <p:nvPr/>
        </p:nvSpPr>
        <p:spPr>
          <a:xfrm>
            <a:off x="8595360" y="2295144"/>
            <a:ext cx="292608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Files, Processes, Memory &amp; IPC</a:t>
            </a:r>
            <a:endParaRPr lang="en-US" sz="1300" dirty="0"/>
          </a:p>
        </p:txBody>
      </p:sp>
      <p:sp>
        <p:nvSpPr>
          <p:cNvPr id="11" name="Shape 9"/>
          <p:cNvSpPr/>
          <p:nvPr/>
        </p:nvSpPr>
        <p:spPr>
          <a:xfrm>
            <a:off x="8001000" y="3108960"/>
            <a:ext cx="457200" cy="457200"/>
          </a:xfrm>
          <a:prstGeom prst="ellipse">
            <a:avLst/>
          </a:prstGeom>
          <a:solidFill>
            <a:srgbClr val="1E2761"/>
          </a:solidFill>
          <a:ln/>
        </p:spPr>
      </p:sp>
      <p:sp>
        <p:nvSpPr>
          <p:cNvPr id="12" name="Text 10"/>
          <p:cNvSpPr/>
          <p:nvPr/>
        </p:nvSpPr>
        <p:spPr>
          <a:xfrm>
            <a:off x="800100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p:nvPr/>
        </p:nvSpPr>
        <p:spPr>
          <a:xfrm>
            <a:off x="8595360" y="3054096"/>
            <a:ext cx="2834640" cy="320040"/>
          </a:xfrm>
          <a:prstGeom prst="rect">
            <a:avLst/>
          </a:prstGeom>
          <a:noFill/>
          <a:ln/>
        </p:spPr>
        <p:txBody>
          <a:bodyPr wrap="square" rtlCol="0" anchor="ctr"/>
          <a:lstStyle/>
          <a:p>
            <a:pPr marL="0" indent="0">
              <a:buNone/>
            </a:pPr>
            <a:r>
              <a:rPr lang="en-US" sz="1250" b="1" dirty="0">
                <a:solidFill>
                  <a:srgbClr val="3B4CA0"/>
                </a:solidFill>
                <a:latin typeface="Calibri" pitchFamily="34" charset="0"/>
                <a:ea typeface="Calibri" pitchFamily="34" charset="-122"/>
                <a:cs typeface="Calibri" pitchFamily="34" charset="-120"/>
              </a:rPr>
              <a:t>Approach</a:t>
            </a:r>
            <a:endParaRPr lang="en-US" sz="1250" dirty="0"/>
          </a:p>
        </p:txBody>
      </p:sp>
      <p:sp>
        <p:nvSpPr>
          <p:cNvPr id="14" name="Text 12"/>
          <p:cNvSpPr/>
          <p:nvPr/>
        </p:nvSpPr>
        <p:spPr>
          <a:xfrm>
            <a:off x="8595360" y="3346704"/>
            <a:ext cx="292608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Kernel–User Space Interaction</a:t>
            </a:r>
            <a:endParaRPr lang="en-US" sz="1300" dirty="0"/>
          </a:p>
        </p:txBody>
      </p:sp>
      <p:sp>
        <p:nvSpPr>
          <p:cNvPr id="15" name="Shape 13"/>
          <p:cNvSpPr/>
          <p:nvPr/>
        </p:nvSpPr>
        <p:spPr>
          <a:xfrm>
            <a:off x="8001000" y="4160520"/>
            <a:ext cx="457200" cy="457200"/>
          </a:xfrm>
          <a:prstGeom prst="ellipse">
            <a:avLst/>
          </a:prstGeom>
          <a:solidFill>
            <a:srgbClr val="1E2761"/>
          </a:solidFill>
          <a:ln/>
        </p:spPr>
      </p:sp>
      <p:sp>
        <p:nvSpPr>
          <p:cNvPr id="16" name="Text 14"/>
          <p:cNvSpPr/>
          <p:nvPr/>
        </p:nvSpPr>
        <p:spPr>
          <a:xfrm>
            <a:off x="8001000" y="4160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p:nvPr/>
        </p:nvSpPr>
        <p:spPr>
          <a:xfrm>
            <a:off x="8595360" y="4105656"/>
            <a:ext cx="2834640" cy="320040"/>
          </a:xfrm>
          <a:prstGeom prst="rect">
            <a:avLst/>
          </a:prstGeom>
          <a:noFill/>
          <a:ln/>
        </p:spPr>
        <p:txBody>
          <a:bodyPr wrap="square" rtlCol="0" anchor="ctr"/>
          <a:lstStyle/>
          <a:p>
            <a:pPr marL="0" indent="0">
              <a:buNone/>
            </a:pPr>
            <a:r>
              <a:rPr lang="en-US" sz="1250" b="1" dirty="0">
                <a:solidFill>
                  <a:srgbClr val="3B4CA0"/>
                </a:solidFill>
                <a:latin typeface="Calibri" pitchFamily="34" charset="0"/>
                <a:ea typeface="Calibri" pitchFamily="34" charset="-122"/>
                <a:cs typeface="Calibri" pitchFamily="34" charset="-120"/>
              </a:rPr>
              <a:t>Outcome</a:t>
            </a:r>
            <a:endParaRPr lang="en-US" sz="1250" dirty="0"/>
          </a:p>
        </p:txBody>
      </p:sp>
      <p:sp>
        <p:nvSpPr>
          <p:cNvPr id="18" name="Text 16"/>
          <p:cNvSpPr/>
          <p:nvPr/>
        </p:nvSpPr>
        <p:spPr>
          <a:xfrm>
            <a:off x="8595360" y="4398264"/>
            <a:ext cx="292608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6-Module Interactive Toolkit</a:t>
            </a:r>
            <a:endParaRPr lang="en-US" sz="1300" dirty="0"/>
          </a:p>
        </p:txBody>
      </p:sp>
      <p:sp>
        <p:nvSpPr>
          <p:cNvPr id="19" name="Text 17"/>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0" name="Text 18"/>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48640" y="1600200"/>
            <a:ext cx="5212080" cy="1371600"/>
          </a:xfrm>
          <a:prstGeom prst="rect">
            <a:avLst/>
          </a:prstGeom>
          <a:noFill/>
          <a:ln/>
        </p:spPr>
        <p:txBody>
          <a:bodyPr wrap="square" rtlCol="0" anchor="t"/>
          <a:lstStyle/>
          <a:p>
            <a:pPr marL="0" indent="0">
              <a:lnSpc>
                <a:spcPct val="125000"/>
              </a:lnSpc>
              <a:buNone/>
            </a:pPr>
            <a:r>
              <a:rPr lang="en-US" sz="1450" dirty="0">
                <a:solidFill>
                  <a:srgbClr val="1B1F3B"/>
                </a:solidFill>
                <a:latin typeface="Calibri" pitchFamily="34" charset="0"/>
                <a:ea typeface="Calibri" pitchFamily="34" charset="-122"/>
                <a:cs typeface="Calibri" pitchFamily="34" charset="-120"/>
              </a:rPr>
              <a:t>An operating system acts as a service layer between user-space programs and hardware. System calls are the controlled gateway through which applications request kernel services — for files, processes, memory and communication alike.</a:t>
            </a:r>
            <a:endParaRPr lang="en-US" sz="1450" dirty="0"/>
          </a:p>
        </p:txBody>
      </p:sp>
      <p:sp>
        <p:nvSpPr>
          <p:cNvPr id="5" name="Text 3"/>
          <p:cNvSpPr/>
          <p:nvPr/>
        </p:nvSpPr>
        <p:spPr>
          <a:xfrm>
            <a:off x="548640" y="3063240"/>
            <a:ext cx="5212080" cy="1188720"/>
          </a:xfrm>
          <a:prstGeom prst="rect">
            <a:avLst/>
          </a:prstGeom>
          <a:noFill/>
          <a:ln/>
        </p:spPr>
        <p:txBody>
          <a:bodyPr wrap="square" rtlCol="0" anchor="t"/>
          <a:lstStyle/>
          <a:p>
            <a:pPr marL="0" indent="0">
              <a:lnSpc>
                <a:spcPct val="125000"/>
              </a:lnSpc>
              <a:buNone/>
            </a:pPr>
            <a:r>
              <a:rPr lang="en-US" sz="1450" dirty="0">
                <a:solidFill>
                  <a:srgbClr val="1B1F3B"/>
                </a:solidFill>
                <a:latin typeface="Calibri" pitchFamily="34" charset="0"/>
                <a:ea typeface="Calibri" pitchFamily="34" charset="-122"/>
                <a:cs typeface="Calibri" pitchFamily="34" charset="-120"/>
              </a:rPr>
              <a:t>This project builds Linux System Explorer, an interactive toolkit whose six modules put these concepts into practice and connect user-space requests directly to kernel services.</a:t>
            </a:r>
            <a:endParaRPr lang="en-US" sz="1450" dirty="0"/>
          </a:p>
        </p:txBody>
      </p:sp>
      <p:sp>
        <p:nvSpPr>
          <p:cNvPr id="6" name="Shape 4"/>
          <p:cNvSpPr/>
          <p:nvPr/>
        </p:nvSpPr>
        <p:spPr>
          <a:xfrm>
            <a:off x="6263640" y="1645920"/>
            <a:ext cx="2596896" cy="960120"/>
          </a:xfrm>
          <a:prstGeom prst="roundRect">
            <a:avLst>
              <a:gd name="adj" fmla="val 9524"/>
            </a:avLst>
          </a:prstGeom>
          <a:solidFill>
            <a:srgbClr val="F3F6FC"/>
          </a:solidFill>
          <a:ln/>
        </p:spPr>
      </p:sp>
      <p:sp>
        <p:nvSpPr>
          <p:cNvPr id="7" name="Shape 5"/>
          <p:cNvSpPr/>
          <p:nvPr/>
        </p:nvSpPr>
        <p:spPr>
          <a:xfrm>
            <a:off x="6428232" y="1865376"/>
            <a:ext cx="502920" cy="502920"/>
          </a:xfrm>
          <a:prstGeom prst="ellipse">
            <a:avLst/>
          </a:prstGeom>
          <a:solidFill>
            <a:srgbClr val="1E2761"/>
          </a:solidFill>
          <a:ln/>
        </p:spPr>
      </p:sp>
      <p:sp>
        <p:nvSpPr>
          <p:cNvPr id="8" name="Text 6"/>
          <p:cNvSpPr/>
          <p:nvPr/>
        </p:nvSpPr>
        <p:spPr>
          <a:xfrm>
            <a:off x="6428232" y="1865376"/>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7040880" y="1645920"/>
            <a:ext cx="1682496" cy="960120"/>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File Systems &amp; Inodes</a:t>
            </a:r>
            <a:endParaRPr lang="en-US" sz="1250" dirty="0"/>
          </a:p>
        </p:txBody>
      </p:sp>
      <p:sp>
        <p:nvSpPr>
          <p:cNvPr id="10" name="Shape 8"/>
          <p:cNvSpPr/>
          <p:nvPr/>
        </p:nvSpPr>
        <p:spPr>
          <a:xfrm>
            <a:off x="9061704" y="1645920"/>
            <a:ext cx="2596896" cy="960120"/>
          </a:xfrm>
          <a:prstGeom prst="roundRect">
            <a:avLst>
              <a:gd name="adj" fmla="val 9524"/>
            </a:avLst>
          </a:prstGeom>
          <a:solidFill>
            <a:srgbClr val="F3F6FC"/>
          </a:solidFill>
          <a:ln/>
        </p:spPr>
      </p:sp>
      <p:sp>
        <p:nvSpPr>
          <p:cNvPr id="11" name="Shape 9"/>
          <p:cNvSpPr/>
          <p:nvPr/>
        </p:nvSpPr>
        <p:spPr>
          <a:xfrm>
            <a:off x="9226296" y="1865376"/>
            <a:ext cx="502920" cy="502920"/>
          </a:xfrm>
          <a:prstGeom prst="ellipse">
            <a:avLst/>
          </a:prstGeom>
          <a:solidFill>
            <a:srgbClr val="1E2761"/>
          </a:solidFill>
          <a:ln/>
        </p:spPr>
      </p:sp>
      <p:sp>
        <p:nvSpPr>
          <p:cNvPr id="12" name="Text 10"/>
          <p:cNvSpPr/>
          <p:nvPr/>
        </p:nvSpPr>
        <p:spPr>
          <a:xfrm>
            <a:off x="9226296" y="1865376"/>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9838944" y="1645920"/>
            <a:ext cx="1682496" cy="960120"/>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Process Management</a:t>
            </a:r>
            <a:endParaRPr lang="en-US" sz="1250" dirty="0"/>
          </a:p>
        </p:txBody>
      </p:sp>
      <p:sp>
        <p:nvSpPr>
          <p:cNvPr id="14" name="Shape 12"/>
          <p:cNvSpPr/>
          <p:nvPr/>
        </p:nvSpPr>
        <p:spPr>
          <a:xfrm>
            <a:off x="6263640" y="2807208"/>
            <a:ext cx="2596896" cy="960120"/>
          </a:xfrm>
          <a:prstGeom prst="roundRect">
            <a:avLst>
              <a:gd name="adj" fmla="val 9524"/>
            </a:avLst>
          </a:prstGeom>
          <a:solidFill>
            <a:srgbClr val="F3F6FC"/>
          </a:solidFill>
          <a:ln/>
        </p:spPr>
      </p:sp>
      <p:sp>
        <p:nvSpPr>
          <p:cNvPr id="15" name="Shape 13"/>
          <p:cNvSpPr/>
          <p:nvPr/>
        </p:nvSpPr>
        <p:spPr>
          <a:xfrm>
            <a:off x="6428232" y="3026664"/>
            <a:ext cx="502920" cy="502920"/>
          </a:xfrm>
          <a:prstGeom prst="ellipse">
            <a:avLst/>
          </a:prstGeom>
          <a:solidFill>
            <a:srgbClr val="1E2761"/>
          </a:solidFill>
          <a:ln/>
        </p:spPr>
      </p:sp>
      <p:sp>
        <p:nvSpPr>
          <p:cNvPr id="16" name="Text 14"/>
          <p:cNvSpPr/>
          <p:nvPr/>
        </p:nvSpPr>
        <p:spPr>
          <a:xfrm>
            <a:off x="6428232" y="302666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7040880" y="2807208"/>
            <a:ext cx="1682496" cy="960120"/>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Virtual Memory</a:t>
            </a:r>
            <a:endParaRPr lang="en-US" sz="1250" dirty="0"/>
          </a:p>
        </p:txBody>
      </p:sp>
      <p:sp>
        <p:nvSpPr>
          <p:cNvPr id="18" name="Shape 16"/>
          <p:cNvSpPr/>
          <p:nvPr/>
        </p:nvSpPr>
        <p:spPr>
          <a:xfrm>
            <a:off x="9061704" y="2807208"/>
            <a:ext cx="2596896" cy="960120"/>
          </a:xfrm>
          <a:prstGeom prst="roundRect">
            <a:avLst>
              <a:gd name="adj" fmla="val 9524"/>
            </a:avLst>
          </a:prstGeom>
          <a:solidFill>
            <a:srgbClr val="F3F6FC"/>
          </a:solidFill>
          <a:ln/>
        </p:spPr>
      </p:sp>
      <p:sp>
        <p:nvSpPr>
          <p:cNvPr id="19" name="Shape 17"/>
          <p:cNvSpPr/>
          <p:nvPr/>
        </p:nvSpPr>
        <p:spPr>
          <a:xfrm>
            <a:off x="9226296" y="3026664"/>
            <a:ext cx="502920" cy="502920"/>
          </a:xfrm>
          <a:prstGeom prst="ellipse">
            <a:avLst/>
          </a:prstGeom>
          <a:solidFill>
            <a:srgbClr val="1E2761"/>
          </a:solidFill>
          <a:ln/>
        </p:spPr>
      </p:sp>
      <p:sp>
        <p:nvSpPr>
          <p:cNvPr id="20" name="Text 18"/>
          <p:cNvSpPr/>
          <p:nvPr/>
        </p:nvSpPr>
        <p:spPr>
          <a:xfrm>
            <a:off x="9226296" y="302666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9838944" y="2807208"/>
            <a:ext cx="1682496" cy="960120"/>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IPC &amp; Concurrency</a:t>
            </a:r>
            <a:endParaRPr lang="en-US" sz="1250" dirty="0"/>
          </a:p>
        </p:txBody>
      </p:sp>
      <p:sp>
        <p:nvSpPr>
          <p:cNvPr id="22" name="Shape 20"/>
          <p:cNvSpPr/>
          <p:nvPr/>
        </p:nvSpPr>
        <p:spPr>
          <a:xfrm>
            <a:off x="6263640" y="4206240"/>
            <a:ext cx="5394960" cy="1600200"/>
          </a:xfrm>
          <a:prstGeom prst="roundRect">
            <a:avLst>
              <a:gd name="adj" fmla="val 5714"/>
            </a:avLst>
          </a:prstGeom>
          <a:solidFill>
            <a:srgbClr val="1E2761"/>
          </a:solidFill>
          <a:ln/>
        </p:spPr>
      </p:sp>
      <p:sp>
        <p:nvSpPr>
          <p:cNvPr id="23" name="Text 21"/>
          <p:cNvSpPr/>
          <p:nvPr/>
        </p:nvSpPr>
        <p:spPr>
          <a:xfrm>
            <a:off x="6537960" y="4343400"/>
            <a:ext cx="4846320" cy="32004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Why it matters</a:t>
            </a:r>
            <a:endParaRPr lang="en-US" sz="1300" dirty="0"/>
          </a:p>
        </p:txBody>
      </p:sp>
      <p:sp>
        <p:nvSpPr>
          <p:cNvPr id="24" name="Text 22"/>
          <p:cNvSpPr/>
          <p:nvPr/>
        </p:nvSpPr>
        <p:spPr>
          <a:xfrm>
            <a:off x="6537960" y="4663440"/>
            <a:ext cx="4846320" cy="1005840"/>
          </a:xfrm>
          <a:prstGeom prst="rect">
            <a:avLst/>
          </a:prstGeom>
          <a:noFill/>
          <a:ln/>
        </p:spPr>
        <p:txBody>
          <a:bodyPr wrap="square"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Theory alone rarely shows how user-space code reaches kernel services. Interactive modules make that interaction visible.</a:t>
            </a:r>
            <a:endParaRPr lang="en-US" sz="1250" dirty="0"/>
          </a:p>
        </p:txBody>
      </p:sp>
      <p:sp>
        <p:nvSpPr>
          <p:cNvPr id="25" name="Text 23"/>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6" name="Text 24"/>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CURRENT LANDSCAPE</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Existing System</a:t>
            </a:r>
            <a:endParaRPr lang="en-US" sz="3200" dirty="0"/>
          </a:p>
        </p:txBody>
      </p:sp>
      <p:sp>
        <p:nvSpPr>
          <p:cNvPr id="4" name="Shape 2"/>
          <p:cNvSpPr/>
          <p:nvPr/>
        </p:nvSpPr>
        <p:spPr>
          <a:xfrm>
            <a:off x="548640" y="1737360"/>
            <a:ext cx="3520440" cy="3108960"/>
          </a:xfrm>
          <a:prstGeom prst="roundRect">
            <a:avLst>
              <a:gd name="adj" fmla="val 3529"/>
            </a:avLst>
          </a:prstGeom>
          <a:solidFill>
            <a:srgbClr val="F3F6FC"/>
          </a:solidFill>
          <a:ln/>
        </p:spPr>
      </p:sp>
      <p:sp>
        <p:nvSpPr>
          <p:cNvPr id="5" name="Shape 3"/>
          <p:cNvSpPr/>
          <p:nvPr/>
        </p:nvSpPr>
        <p:spPr>
          <a:xfrm>
            <a:off x="822960" y="1965960"/>
            <a:ext cx="548640" cy="548640"/>
          </a:xfrm>
          <a:prstGeom prst="ellipse">
            <a:avLst/>
          </a:prstGeom>
          <a:solidFill>
            <a:srgbClr val="1E2761"/>
          </a:solidFill>
          <a:ln/>
        </p:spPr>
      </p:sp>
      <p:sp>
        <p:nvSpPr>
          <p:cNvPr id="6" name="Text 4"/>
          <p:cNvSpPr/>
          <p:nvPr/>
        </p:nvSpPr>
        <p:spPr>
          <a:xfrm>
            <a:off x="822960"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22960" y="2697480"/>
            <a:ext cx="297180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GUI Tools &amp; Monitors</a:t>
            </a:r>
            <a:endParaRPr lang="en-US" sz="1500" dirty="0"/>
          </a:p>
        </p:txBody>
      </p:sp>
      <p:sp>
        <p:nvSpPr>
          <p:cNvPr id="8" name="Text 6"/>
          <p:cNvSpPr/>
          <p:nvPr/>
        </p:nvSpPr>
        <p:spPr>
          <a:xfrm>
            <a:off x="822960" y="3200400"/>
            <a:ext cx="2971800" cy="15544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File managers and system monitors such as Nautilus or GNOME System Monitor hide the system calls behind every action.</a:t>
            </a:r>
            <a:endParaRPr lang="en-US" sz="1250" dirty="0"/>
          </a:p>
        </p:txBody>
      </p:sp>
      <p:sp>
        <p:nvSpPr>
          <p:cNvPr id="9" name="Shape 7"/>
          <p:cNvSpPr/>
          <p:nvPr/>
        </p:nvSpPr>
        <p:spPr>
          <a:xfrm>
            <a:off x="4343400" y="1737360"/>
            <a:ext cx="3520440" cy="3108960"/>
          </a:xfrm>
          <a:prstGeom prst="roundRect">
            <a:avLst>
              <a:gd name="adj" fmla="val 3529"/>
            </a:avLst>
          </a:prstGeom>
          <a:solidFill>
            <a:srgbClr val="F3F6FC"/>
          </a:solidFill>
          <a:ln/>
        </p:spPr>
      </p:sp>
      <p:sp>
        <p:nvSpPr>
          <p:cNvPr id="10" name="Shape 8"/>
          <p:cNvSpPr/>
          <p:nvPr/>
        </p:nvSpPr>
        <p:spPr>
          <a:xfrm>
            <a:off x="4617720" y="1965960"/>
            <a:ext cx="548640" cy="548640"/>
          </a:xfrm>
          <a:prstGeom prst="ellipse">
            <a:avLst/>
          </a:prstGeom>
          <a:solidFill>
            <a:srgbClr val="1E2761"/>
          </a:solidFill>
          <a:ln/>
        </p:spPr>
      </p:sp>
      <p:sp>
        <p:nvSpPr>
          <p:cNvPr id="11" name="Text 9"/>
          <p:cNvSpPr/>
          <p:nvPr/>
        </p:nvSpPr>
        <p:spPr>
          <a:xfrm>
            <a:off x="4617720"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17720" y="2697480"/>
            <a:ext cx="297180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Shell Commands</a:t>
            </a:r>
            <a:endParaRPr lang="en-US" sz="1500" dirty="0"/>
          </a:p>
        </p:txBody>
      </p:sp>
      <p:sp>
        <p:nvSpPr>
          <p:cNvPr id="13" name="Text 11"/>
          <p:cNvSpPr/>
          <p:nvPr/>
        </p:nvSpPr>
        <p:spPr>
          <a:xfrm>
            <a:off x="4617720" y="3200400"/>
            <a:ext cx="2971800" cy="15544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Utilities like ls, ps and ipcs each expose one topic as raw text, leaving the underlying kernel interaction unexplained.</a:t>
            </a:r>
            <a:endParaRPr lang="en-US" sz="1250" dirty="0"/>
          </a:p>
        </p:txBody>
      </p:sp>
      <p:sp>
        <p:nvSpPr>
          <p:cNvPr id="14" name="Shape 12"/>
          <p:cNvSpPr/>
          <p:nvPr/>
        </p:nvSpPr>
        <p:spPr>
          <a:xfrm>
            <a:off x="8138160" y="1737360"/>
            <a:ext cx="3520440" cy="3108960"/>
          </a:xfrm>
          <a:prstGeom prst="roundRect">
            <a:avLst>
              <a:gd name="adj" fmla="val 3529"/>
            </a:avLst>
          </a:prstGeom>
          <a:solidFill>
            <a:srgbClr val="F3F6FC"/>
          </a:solidFill>
          <a:ln/>
        </p:spPr>
      </p:sp>
      <p:sp>
        <p:nvSpPr>
          <p:cNvPr id="15" name="Shape 13"/>
          <p:cNvSpPr/>
          <p:nvPr/>
        </p:nvSpPr>
        <p:spPr>
          <a:xfrm>
            <a:off x="8412480" y="1965960"/>
            <a:ext cx="548640" cy="548640"/>
          </a:xfrm>
          <a:prstGeom prst="ellipse">
            <a:avLst/>
          </a:prstGeom>
          <a:solidFill>
            <a:srgbClr val="1E2761"/>
          </a:solidFill>
          <a:ln/>
        </p:spPr>
      </p:sp>
      <p:sp>
        <p:nvSpPr>
          <p:cNvPr id="16" name="Text 14"/>
          <p:cNvSpPr/>
          <p:nvPr/>
        </p:nvSpPr>
        <p:spPr>
          <a:xfrm>
            <a:off x="8412480"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412480" y="2697480"/>
            <a:ext cx="297180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Limited Learning Value</a:t>
            </a:r>
            <a:endParaRPr lang="en-US" sz="1500" dirty="0"/>
          </a:p>
        </p:txBody>
      </p:sp>
      <p:sp>
        <p:nvSpPr>
          <p:cNvPr id="18" name="Text 16"/>
          <p:cNvSpPr/>
          <p:nvPr/>
        </p:nvSpPr>
        <p:spPr>
          <a:xfrm>
            <a:off x="8412480" y="3200400"/>
            <a:ext cx="2971800" cy="15544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Files, processes, memory and IPC are learned separately; students rarely see how they connect through system calls.</a:t>
            </a:r>
            <a:endParaRPr lang="en-US" sz="1250" dirty="0"/>
          </a:p>
        </p:txBody>
      </p:sp>
      <p:sp>
        <p:nvSpPr>
          <p:cNvPr id="19" name="Shape 17"/>
          <p:cNvSpPr/>
          <p:nvPr/>
        </p:nvSpPr>
        <p:spPr>
          <a:xfrm>
            <a:off x="548640" y="5074920"/>
            <a:ext cx="11064240" cy="868680"/>
          </a:xfrm>
          <a:prstGeom prst="roundRect">
            <a:avLst>
              <a:gd name="adj" fmla="val 10526"/>
            </a:avLst>
          </a:prstGeom>
          <a:solidFill>
            <a:srgbClr val="1E2761"/>
          </a:solidFill>
          <a:ln/>
        </p:spPr>
      </p:sp>
      <p:sp>
        <p:nvSpPr>
          <p:cNvPr id="20" name="Text 18"/>
          <p:cNvSpPr/>
          <p:nvPr/>
        </p:nvSpPr>
        <p:spPr>
          <a:xfrm>
            <a:off x="822960" y="5074920"/>
            <a:ext cx="10515600" cy="86868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Gap: no single, interactive toolkit lets learners explore files, processes, memory and IPC while watching the system calls behind them.</a:t>
            </a:r>
            <a:endParaRPr lang="en-US" sz="1350" dirty="0"/>
          </a:p>
        </p:txBody>
      </p:sp>
      <p:sp>
        <p:nvSpPr>
          <p:cNvPr id="21" name="Text 19"/>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2" name="Text 20"/>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OUR SOLUTION</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Proposed System</a:t>
            </a:r>
            <a:endParaRPr lang="en-US" sz="3200" dirty="0"/>
          </a:p>
        </p:txBody>
      </p:sp>
      <p:sp>
        <p:nvSpPr>
          <p:cNvPr id="4" name="Text 2"/>
          <p:cNvSpPr/>
          <p:nvPr/>
        </p:nvSpPr>
        <p:spPr>
          <a:xfrm>
            <a:off x="548640" y="1600200"/>
            <a:ext cx="5212080" cy="1828800"/>
          </a:xfrm>
          <a:prstGeom prst="rect">
            <a:avLst/>
          </a:prstGeom>
          <a:noFill/>
          <a:ln/>
        </p:spPr>
        <p:txBody>
          <a:bodyPr wrap="square" rtlCol="0" anchor="t"/>
          <a:lstStyle/>
          <a:p>
            <a:pPr marL="0" indent="0">
              <a:lnSpc>
                <a:spcPct val="128000"/>
              </a:lnSpc>
              <a:buNone/>
            </a:pPr>
            <a:r>
              <a:rPr lang="en-US" sz="1450" dirty="0">
                <a:solidFill>
                  <a:srgbClr val="1B1F3B"/>
                </a:solidFill>
                <a:latin typeface="Calibri" pitchFamily="34" charset="0"/>
                <a:ea typeface="Calibri" pitchFamily="34" charset="-122"/>
                <a:cs typeface="Calibri" pitchFamily="34" charset="-120"/>
              </a:rPr>
              <a:t>The proposed Linux System Explorer is an interactive toolkit that brings files, processes, memory, IPC, concurrency and system calls together in one web interface. Each module invokes Linux system calls directly and displays the result — making kernel services visible rather than hidden.</a:t>
            </a:r>
            <a:endParaRPr lang="en-US" sz="1450" dirty="0"/>
          </a:p>
        </p:txBody>
      </p:sp>
      <p:sp>
        <p:nvSpPr>
          <p:cNvPr id="5" name="Shape 3"/>
          <p:cNvSpPr/>
          <p:nvPr/>
        </p:nvSpPr>
        <p:spPr>
          <a:xfrm>
            <a:off x="548640" y="3657600"/>
            <a:ext cx="5212080" cy="2148840"/>
          </a:xfrm>
          <a:prstGeom prst="roundRect">
            <a:avLst>
              <a:gd name="adj" fmla="val 5106"/>
            </a:avLst>
          </a:prstGeom>
          <a:solidFill>
            <a:srgbClr val="F3F6FC"/>
          </a:solidFill>
          <a:ln/>
        </p:spPr>
      </p:sp>
      <p:sp>
        <p:nvSpPr>
          <p:cNvPr id="6" name="Text 4"/>
          <p:cNvSpPr/>
          <p:nvPr/>
        </p:nvSpPr>
        <p:spPr>
          <a:xfrm>
            <a:off x="822960" y="3840480"/>
            <a:ext cx="4663440" cy="320040"/>
          </a:xfrm>
          <a:prstGeom prst="rect">
            <a:avLst/>
          </a:prstGeom>
          <a:noFill/>
          <a:ln/>
        </p:spPr>
        <p:txBody>
          <a:bodyPr wrap="square" rtlCol="0" anchor="ctr"/>
          <a:lstStyle/>
          <a:p>
            <a:pPr marL="0" indent="0">
              <a:buNone/>
            </a:pPr>
            <a:r>
              <a:rPr lang="en-US" sz="1300" b="1" dirty="0">
                <a:solidFill>
                  <a:srgbClr val="3B4CA0"/>
                </a:solidFill>
                <a:latin typeface="Calibri" pitchFamily="34" charset="0"/>
                <a:ea typeface="Calibri" pitchFamily="34" charset="-122"/>
                <a:cs typeface="Calibri" pitchFamily="34" charset="-120"/>
              </a:rPr>
              <a:t>Key Capabilities</a:t>
            </a:r>
            <a:endParaRPr lang="en-US" sz="1300" dirty="0"/>
          </a:p>
        </p:txBody>
      </p:sp>
      <p:sp>
        <p:nvSpPr>
          <p:cNvPr id="7" name="Text 5"/>
          <p:cNvSpPr/>
          <p:nvPr/>
        </p:nvSpPr>
        <p:spPr>
          <a:xfrm>
            <a:off x="822960" y="4160520"/>
            <a:ext cx="4663440" cy="1554480"/>
          </a:xfrm>
          <a:prstGeom prst="rect">
            <a:avLst/>
          </a:prstGeom>
          <a:noFill/>
          <a:ln/>
        </p:spPr>
        <p:txBody>
          <a:bodyPr wrap="square" rtlCol="0" anchor="t"/>
          <a:lstStyle/>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Explore files, directories and inode details</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View and inspect running Linux processes</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Demonstrate virtual memory and allocation</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Compare Pipe, FIFO, Shared Memory &amp; Message Queue</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Analyze files concurrently and trace system calls</a:t>
            </a:r>
            <a:endParaRPr lang="en-US" sz="1200" dirty="0"/>
          </a:p>
        </p:txBody>
      </p:sp>
      <p:sp>
        <p:nvSpPr>
          <p:cNvPr id="8" name="Shape 6"/>
          <p:cNvSpPr/>
          <p:nvPr/>
        </p:nvSpPr>
        <p:spPr>
          <a:xfrm>
            <a:off x="6263640" y="1600200"/>
            <a:ext cx="5394960" cy="4206240"/>
          </a:xfrm>
          <a:prstGeom prst="roundRect">
            <a:avLst>
              <a:gd name="adj" fmla="val 2609"/>
            </a:avLst>
          </a:prstGeom>
          <a:solidFill>
            <a:srgbClr val="1E2761"/>
          </a:solidFill>
          <a:ln/>
        </p:spPr>
      </p:sp>
      <p:sp>
        <p:nvSpPr>
          <p:cNvPr id="9" name="Text 7"/>
          <p:cNvSpPr/>
          <p:nvPr/>
        </p:nvSpPr>
        <p:spPr>
          <a:xfrm>
            <a:off x="6537960" y="1783080"/>
            <a:ext cx="484632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System Call Coverage</a:t>
            </a:r>
            <a:endParaRPr lang="en-US" sz="1400" dirty="0"/>
          </a:p>
        </p:txBody>
      </p:sp>
      <p:sp>
        <p:nvSpPr>
          <p:cNvPr id="10" name="Shape 8"/>
          <p:cNvSpPr/>
          <p:nvPr/>
        </p:nvSpPr>
        <p:spPr>
          <a:xfrm>
            <a:off x="6537960" y="2286000"/>
            <a:ext cx="45720" cy="566928"/>
          </a:xfrm>
          <a:prstGeom prst="roundRect">
            <a:avLst/>
          </a:prstGeom>
          <a:solidFill>
            <a:srgbClr val="CADCFC"/>
          </a:solidFill>
          <a:ln/>
        </p:spPr>
      </p:sp>
      <p:sp>
        <p:nvSpPr>
          <p:cNvPr id="11" name="Text 9"/>
          <p:cNvSpPr/>
          <p:nvPr/>
        </p:nvSpPr>
        <p:spPr>
          <a:xfrm>
            <a:off x="6720840" y="2258568"/>
            <a:ext cx="47548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open() / read() / write() / close()</a:t>
            </a:r>
            <a:endParaRPr lang="en-US" sz="1300" dirty="0"/>
          </a:p>
        </p:txBody>
      </p:sp>
      <p:sp>
        <p:nvSpPr>
          <p:cNvPr id="12" name="Text 10"/>
          <p:cNvSpPr/>
          <p:nvPr/>
        </p:nvSpPr>
        <p:spPr>
          <a:xfrm>
            <a:off x="6720840" y="2532888"/>
            <a:ext cx="475488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File I/O for File Explorer &amp; File Analyzer</a:t>
            </a:r>
            <a:endParaRPr lang="en-US" sz="1150" dirty="0"/>
          </a:p>
        </p:txBody>
      </p:sp>
      <p:sp>
        <p:nvSpPr>
          <p:cNvPr id="13" name="Shape 11"/>
          <p:cNvSpPr/>
          <p:nvPr/>
        </p:nvSpPr>
        <p:spPr>
          <a:xfrm>
            <a:off x="6537960" y="2944368"/>
            <a:ext cx="45720" cy="566928"/>
          </a:xfrm>
          <a:prstGeom prst="roundRect">
            <a:avLst/>
          </a:prstGeom>
          <a:solidFill>
            <a:srgbClr val="CADCFC"/>
          </a:solidFill>
          <a:ln/>
        </p:spPr>
      </p:sp>
      <p:sp>
        <p:nvSpPr>
          <p:cNvPr id="14" name="Text 12"/>
          <p:cNvSpPr/>
          <p:nvPr/>
        </p:nvSpPr>
        <p:spPr>
          <a:xfrm>
            <a:off x="6720840" y="2916936"/>
            <a:ext cx="47548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stat() / opendir() / readdir()</a:t>
            </a:r>
            <a:endParaRPr lang="en-US" sz="1300" dirty="0"/>
          </a:p>
        </p:txBody>
      </p:sp>
      <p:sp>
        <p:nvSpPr>
          <p:cNvPr id="15" name="Text 13"/>
          <p:cNvSpPr/>
          <p:nvPr/>
        </p:nvSpPr>
        <p:spPr>
          <a:xfrm>
            <a:off x="6720840" y="3191256"/>
            <a:ext cx="475488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Inode metadata &amp; directory walking</a:t>
            </a:r>
            <a:endParaRPr lang="en-US" sz="1150" dirty="0"/>
          </a:p>
        </p:txBody>
      </p:sp>
      <p:sp>
        <p:nvSpPr>
          <p:cNvPr id="16" name="Shape 14"/>
          <p:cNvSpPr/>
          <p:nvPr/>
        </p:nvSpPr>
        <p:spPr>
          <a:xfrm>
            <a:off x="6537960" y="3602736"/>
            <a:ext cx="45720" cy="566928"/>
          </a:xfrm>
          <a:prstGeom prst="roundRect">
            <a:avLst/>
          </a:prstGeom>
          <a:solidFill>
            <a:srgbClr val="CADCFC"/>
          </a:solidFill>
          <a:ln/>
        </p:spPr>
      </p:sp>
      <p:sp>
        <p:nvSpPr>
          <p:cNvPr id="17" name="Text 15"/>
          <p:cNvSpPr/>
          <p:nvPr/>
        </p:nvSpPr>
        <p:spPr>
          <a:xfrm>
            <a:off x="6720840" y="3575304"/>
            <a:ext cx="47548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fork() / execve() / waitpid()</a:t>
            </a:r>
            <a:endParaRPr lang="en-US" sz="1300" dirty="0"/>
          </a:p>
        </p:txBody>
      </p:sp>
      <p:sp>
        <p:nvSpPr>
          <p:cNvPr id="18" name="Text 16"/>
          <p:cNvSpPr/>
          <p:nvPr/>
        </p:nvSpPr>
        <p:spPr>
          <a:xfrm>
            <a:off x="6720840" y="3849624"/>
            <a:ext cx="475488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Process creation &amp; lifecycle</a:t>
            </a:r>
            <a:endParaRPr lang="en-US" sz="1150" dirty="0"/>
          </a:p>
        </p:txBody>
      </p:sp>
      <p:sp>
        <p:nvSpPr>
          <p:cNvPr id="19" name="Shape 17"/>
          <p:cNvSpPr/>
          <p:nvPr/>
        </p:nvSpPr>
        <p:spPr>
          <a:xfrm>
            <a:off x="6537960" y="4261104"/>
            <a:ext cx="45720" cy="566928"/>
          </a:xfrm>
          <a:prstGeom prst="roundRect">
            <a:avLst/>
          </a:prstGeom>
          <a:solidFill>
            <a:srgbClr val="CADCFC"/>
          </a:solidFill>
          <a:ln/>
        </p:spPr>
      </p:sp>
      <p:sp>
        <p:nvSpPr>
          <p:cNvPr id="20" name="Text 18"/>
          <p:cNvSpPr/>
          <p:nvPr/>
        </p:nvSpPr>
        <p:spPr>
          <a:xfrm>
            <a:off x="6720840" y="4233672"/>
            <a:ext cx="47548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mmap() / brk()</a:t>
            </a:r>
            <a:endParaRPr lang="en-US" sz="1300" dirty="0"/>
          </a:p>
        </p:txBody>
      </p:sp>
      <p:sp>
        <p:nvSpPr>
          <p:cNvPr id="21" name="Text 19"/>
          <p:cNvSpPr/>
          <p:nvPr/>
        </p:nvSpPr>
        <p:spPr>
          <a:xfrm>
            <a:off x="6720840" y="4507992"/>
            <a:ext cx="475488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Virtual memory &amp; allocation</a:t>
            </a:r>
            <a:endParaRPr lang="en-US" sz="1150" dirty="0"/>
          </a:p>
        </p:txBody>
      </p:sp>
      <p:sp>
        <p:nvSpPr>
          <p:cNvPr id="22" name="Shape 20"/>
          <p:cNvSpPr/>
          <p:nvPr/>
        </p:nvSpPr>
        <p:spPr>
          <a:xfrm>
            <a:off x="6537960" y="4919472"/>
            <a:ext cx="45720" cy="566928"/>
          </a:xfrm>
          <a:prstGeom prst="roundRect">
            <a:avLst/>
          </a:prstGeom>
          <a:solidFill>
            <a:srgbClr val="CADCFC"/>
          </a:solidFill>
          <a:ln/>
        </p:spPr>
      </p:sp>
      <p:sp>
        <p:nvSpPr>
          <p:cNvPr id="23" name="Text 21"/>
          <p:cNvSpPr/>
          <p:nvPr/>
        </p:nvSpPr>
        <p:spPr>
          <a:xfrm>
            <a:off x="6720840" y="4892040"/>
            <a:ext cx="47548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pipe() / mkfifo() / shmget() / msgget()</a:t>
            </a:r>
            <a:endParaRPr lang="en-US" sz="1300" dirty="0"/>
          </a:p>
        </p:txBody>
      </p:sp>
      <p:sp>
        <p:nvSpPr>
          <p:cNvPr id="24" name="Text 22"/>
          <p:cNvSpPr/>
          <p:nvPr/>
        </p:nvSpPr>
        <p:spPr>
          <a:xfrm>
            <a:off x="6720840" y="5166360"/>
            <a:ext cx="475488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Pipe, FIFO, Shared Memory &amp; Message Queue</a:t>
            </a:r>
            <a:endParaRPr lang="en-US" sz="1150" dirty="0"/>
          </a:p>
        </p:txBody>
      </p:sp>
      <p:sp>
        <p:nvSpPr>
          <p:cNvPr id="25" name="Text 23"/>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6" name="Text 24"/>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Work Flow / Structure</a:t>
            </a:r>
            <a:endParaRPr lang="en-US" sz="3200" dirty="0"/>
          </a:p>
        </p:txBody>
      </p:sp>
      <p:sp>
        <p:nvSpPr>
          <p:cNvPr id="4" name="Shape 2"/>
          <p:cNvSpPr/>
          <p:nvPr/>
        </p:nvSpPr>
        <p:spPr>
          <a:xfrm>
            <a:off x="493776" y="2377440"/>
            <a:ext cx="1874520" cy="1371600"/>
          </a:xfrm>
          <a:prstGeom prst="roundRect">
            <a:avLst>
              <a:gd name="adj" fmla="val 8000"/>
            </a:avLst>
          </a:prstGeom>
          <a:solidFill>
            <a:srgbClr val="1E2761"/>
          </a:solidFill>
          <a:ln/>
        </p:spPr>
      </p:sp>
      <p:sp>
        <p:nvSpPr>
          <p:cNvPr id="5" name="Text 3"/>
          <p:cNvSpPr/>
          <p:nvPr/>
        </p:nvSpPr>
        <p:spPr>
          <a:xfrm>
            <a:off x="493776" y="2377440"/>
            <a:ext cx="1874520" cy="137160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User</a:t>
            </a:r>
            <a:endParaRPr lang="en-US" sz="1400" dirty="0"/>
          </a:p>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p>
        </p:txBody>
      </p:sp>
      <p:sp>
        <p:nvSpPr>
          <p:cNvPr id="6" name="Text 4"/>
          <p:cNvSpPr/>
          <p:nvPr/>
        </p:nvSpPr>
        <p:spPr>
          <a:xfrm>
            <a:off x="1911096" y="2084832"/>
            <a:ext cx="365760" cy="365760"/>
          </a:xfrm>
          <a:prstGeom prst="rect">
            <a:avLst/>
          </a:prstGeom>
          <a:noFill/>
          <a:ln/>
        </p:spPr>
        <p:txBody>
          <a:bodyPr wrap="square" rtlCol="0" anchor="ctr"/>
          <a:lstStyle/>
          <a:p>
            <a:pPr marL="0" indent="0" algn="ctr">
              <a:buNone/>
            </a:pPr>
            <a:r>
              <a:rPr lang="en-US" sz="1200" b="1" dirty="0">
                <a:solidFill>
                  <a:srgbClr val="5B6485"/>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2414016" y="2971800"/>
            <a:ext cx="365760" cy="182880"/>
          </a:xfrm>
          <a:prstGeom prst="rightArrow">
            <a:avLst/>
          </a:prstGeom>
          <a:solidFill>
            <a:srgbClr val="CADCFC"/>
          </a:solidFill>
          <a:ln/>
        </p:spPr>
      </p:sp>
      <p:sp>
        <p:nvSpPr>
          <p:cNvPr id="8" name="Shape 6"/>
          <p:cNvSpPr/>
          <p:nvPr/>
        </p:nvSpPr>
        <p:spPr>
          <a:xfrm>
            <a:off x="2825496" y="2377440"/>
            <a:ext cx="1874520" cy="1371600"/>
          </a:xfrm>
          <a:prstGeom prst="roundRect">
            <a:avLst>
              <a:gd name="adj" fmla="val 8000"/>
            </a:avLst>
          </a:prstGeom>
          <a:solidFill>
            <a:srgbClr val="3B4CA0"/>
          </a:solidFill>
          <a:ln/>
        </p:spPr>
      </p:sp>
      <p:sp>
        <p:nvSpPr>
          <p:cNvPr id="9" name="Text 7"/>
          <p:cNvSpPr/>
          <p:nvPr/>
        </p:nvSpPr>
        <p:spPr>
          <a:xfrm>
            <a:off x="2825496" y="2377440"/>
            <a:ext cx="1874520" cy="137160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p>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Call</a:t>
            </a:r>
            <a:endParaRPr lang="en-US" sz="1400" dirty="0"/>
          </a:p>
        </p:txBody>
      </p:sp>
      <p:sp>
        <p:nvSpPr>
          <p:cNvPr id="10" name="Text 8"/>
          <p:cNvSpPr/>
          <p:nvPr/>
        </p:nvSpPr>
        <p:spPr>
          <a:xfrm>
            <a:off x="4242816" y="2084832"/>
            <a:ext cx="365760" cy="365760"/>
          </a:xfrm>
          <a:prstGeom prst="rect">
            <a:avLst/>
          </a:prstGeom>
          <a:noFill/>
          <a:ln/>
        </p:spPr>
        <p:txBody>
          <a:bodyPr wrap="square" rtlCol="0" anchor="ctr"/>
          <a:lstStyle/>
          <a:p>
            <a:pPr marL="0" indent="0" algn="ctr">
              <a:buNone/>
            </a:pPr>
            <a:r>
              <a:rPr lang="en-US" sz="1200" b="1" dirty="0">
                <a:solidFill>
                  <a:srgbClr val="5B6485"/>
                </a:solidFill>
                <a:latin typeface="Calibri" pitchFamily="34" charset="0"/>
                <a:ea typeface="Calibri" pitchFamily="34" charset="-122"/>
                <a:cs typeface="Calibri" pitchFamily="34" charset="-120"/>
              </a:rPr>
              <a:t>2</a:t>
            </a:r>
            <a:endParaRPr lang="en-US" sz="1200" dirty="0"/>
          </a:p>
        </p:txBody>
      </p:sp>
      <p:sp>
        <p:nvSpPr>
          <p:cNvPr id="11" name="Shape 9"/>
          <p:cNvSpPr/>
          <p:nvPr/>
        </p:nvSpPr>
        <p:spPr>
          <a:xfrm>
            <a:off x="4745736" y="2971800"/>
            <a:ext cx="365760" cy="182880"/>
          </a:xfrm>
          <a:prstGeom prst="rightArrow">
            <a:avLst/>
          </a:prstGeom>
          <a:solidFill>
            <a:srgbClr val="CADCFC"/>
          </a:solidFill>
          <a:ln/>
        </p:spPr>
      </p:sp>
      <p:sp>
        <p:nvSpPr>
          <p:cNvPr id="12" name="Shape 10"/>
          <p:cNvSpPr/>
          <p:nvPr/>
        </p:nvSpPr>
        <p:spPr>
          <a:xfrm>
            <a:off x="5157216" y="2377440"/>
            <a:ext cx="1874520" cy="1371600"/>
          </a:xfrm>
          <a:prstGeom prst="roundRect">
            <a:avLst>
              <a:gd name="adj" fmla="val 8000"/>
            </a:avLst>
          </a:prstGeom>
          <a:solidFill>
            <a:srgbClr val="1E2761"/>
          </a:solidFill>
          <a:ln/>
        </p:spPr>
      </p:sp>
      <p:sp>
        <p:nvSpPr>
          <p:cNvPr id="13" name="Text 11"/>
          <p:cNvSpPr/>
          <p:nvPr/>
        </p:nvSpPr>
        <p:spPr>
          <a:xfrm>
            <a:off x="5157216" y="2377440"/>
            <a:ext cx="1874520" cy="137160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Kernel</a:t>
            </a:r>
            <a:endParaRPr lang="en-US" sz="1400" dirty="0"/>
          </a:p>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Service</a:t>
            </a:r>
            <a:endParaRPr lang="en-US" sz="1400" dirty="0"/>
          </a:p>
        </p:txBody>
      </p:sp>
      <p:sp>
        <p:nvSpPr>
          <p:cNvPr id="14" name="Text 12"/>
          <p:cNvSpPr/>
          <p:nvPr/>
        </p:nvSpPr>
        <p:spPr>
          <a:xfrm>
            <a:off x="6574536" y="2084832"/>
            <a:ext cx="365760" cy="365760"/>
          </a:xfrm>
          <a:prstGeom prst="rect">
            <a:avLst/>
          </a:prstGeom>
          <a:noFill/>
          <a:ln/>
        </p:spPr>
        <p:txBody>
          <a:bodyPr wrap="square" rtlCol="0" anchor="ctr"/>
          <a:lstStyle/>
          <a:p>
            <a:pPr marL="0" indent="0" algn="ctr">
              <a:buNone/>
            </a:pPr>
            <a:r>
              <a:rPr lang="en-US" sz="1200" b="1" dirty="0">
                <a:solidFill>
                  <a:srgbClr val="5B6485"/>
                </a:solidFill>
                <a:latin typeface="Calibri" pitchFamily="34" charset="0"/>
                <a:ea typeface="Calibri" pitchFamily="34" charset="-122"/>
                <a:cs typeface="Calibri" pitchFamily="34" charset="-120"/>
              </a:rPr>
              <a:t>3</a:t>
            </a:r>
            <a:endParaRPr lang="en-US" sz="1200" dirty="0"/>
          </a:p>
        </p:txBody>
      </p:sp>
      <p:sp>
        <p:nvSpPr>
          <p:cNvPr id="15" name="Shape 13"/>
          <p:cNvSpPr/>
          <p:nvPr/>
        </p:nvSpPr>
        <p:spPr>
          <a:xfrm>
            <a:off x="7077456" y="2971800"/>
            <a:ext cx="365760" cy="182880"/>
          </a:xfrm>
          <a:prstGeom prst="rightArrow">
            <a:avLst/>
          </a:prstGeom>
          <a:solidFill>
            <a:srgbClr val="CADCFC"/>
          </a:solidFill>
          <a:ln/>
        </p:spPr>
      </p:sp>
      <p:sp>
        <p:nvSpPr>
          <p:cNvPr id="16" name="Shape 14"/>
          <p:cNvSpPr/>
          <p:nvPr/>
        </p:nvSpPr>
        <p:spPr>
          <a:xfrm>
            <a:off x="7488936" y="2377440"/>
            <a:ext cx="1874520" cy="1371600"/>
          </a:xfrm>
          <a:prstGeom prst="roundRect">
            <a:avLst>
              <a:gd name="adj" fmla="val 8000"/>
            </a:avLst>
          </a:prstGeom>
          <a:solidFill>
            <a:srgbClr val="3B4CA0"/>
          </a:solidFill>
          <a:ln/>
        </p:spPr>
      </p:sp>
      <p:sp>
        <p:nvSpPr>
          <p:cNvPr id="17" name="Text 15"/>
          <p:cNvSpPr/>
          <p:nvPr/>
        </p:nvSpPr>
        <p:spPr>
          <a:xfrm>
            <a:off x="7488936" y="2377440"/>
            <a:ext cx="1874520" cy="137160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p>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p>
        </p:txBody>
      </p:sp>
      <p:sp>
        <p:nvSpPr>
          <p:cNvPr id="18" name="Text 16"/>
          <p:cNvSpPr/>
          <p:nvPr/>
        </p:nvSpPr>
        <p:spPr>
          <a:xfrm>
            <a:off x="8906256" y="2084832"/>
            <a:ext cx="365760" cy="365760"/>
          </a:xfrm>
          <a:prstGeom prst="rect">
            <a:avLst/>
          </a:prstGeom>
          <a:noFill/>
          <a:ln/>
        </p:spPr>
        <p:txBody>
          <a:bodyPr wrap="square" rtlCol="0" anchor="ctr"/>
          <a:lstStyle/>
          <a:p>
            <a:pPr marL="0" indent="0" algn="ctr">
              <a:buNone/>
            </a:pPr>
            <a:r>
              <a:rPr lang="en-US" sz="1200" b="1" dirty="0">
                <a:solidFill>
                  <a:srgbClr val="5B6485"/>
                </a:solidFill>
                <a:latin typeface="Calibri" pitchFamily="34" charset="0"/>
                <a:ea typeface="Calibri" pitchFamily="34" charset="-122"/>
                <a:cs typeface="Calibri" pitchFamily="34" charset="-120"/>
              </a:rPr>
              <a:t>4</a:t>
            </a:r>
            <a:endParaRPr lang="en-US" sz="1200" dirty="0"/>
          </a:p>
        </p:txBody>
      </p:sp>
      <p:sp>
        <p:nvSpPr>
          <p:cNvPr id="19" name="Shape 17"/>
          <p:cNvSpPr/>
          <p:nvPr/>
        </p:nvSpPr>
        <p:spPr>
          <a:xfrm>
            <a:off x="9409176" y="2971800"/>
            <a:ext cx="365760" cy="182880"/>
          </a:xfrm>
          <a:prstGeom prst="rightArrow">
            <a:avLst/>
          </a:prstGeom>
          <a:solidFill>
            <a:srgbClr val="CADCFC"/>
          </a:solidFill>
          <a:ln/>
        </p:spPr>
      </p:sp>
      <p:sp>
        <p:nvSpPr>
          <p:cNvPr id="20" name="Shape 18"/>
          <p:cNvSpPr/>
          <p:nvPr/>
        </p:nvSpPr>
        <p:spPr>
          <a:xfrm>
            <a:off x="9820656" y="2377440"/>
            <a:ext cx="1874520" cy="1371600"/>
          </a:xfrm>
          <a:prstGeom prst="roundRect">
            <a:avLst>
              <a:gd name="adj" fmla="val 8000"/>
            </a:avLst>
          </a:prstGeom>
          <a:solidFill>
            <a:srgbClr val="1E2761"/>
          </a:solidFill>
          <a:ln/>
        </p:spPr>
      </p:sp>
      <p:sp>
        <p:nvSpPr>
          <p:cNvPr id="21" name="Text 19"/>
          <p:cNvSpPr/>
          <p:nvPr/>
        </p:nvSpPr>
        <p:spPr>
          <a:xfrm>
            <a:off x="9820656" y="2377440"/>
            <a:ext cx="1874520" cy="137160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p>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Displayed</a:t>
            </a:r>
            <a:endParaRPr lang="en-US" sz="1400" dirty="0"/>
          </a:p>
        </p:txBody>
      </p:sp>
      <p:sp>
        <p:nvSpPr>
          <p:cNvPr id="22" name="Text 20"/>
          <p:cNvSpPr/>
          <p:nvPr/>
        </p:nvSpPr>
        <p:spPr>
          <a:xfrm>
            <a:off x="11237976" y="2084832"/>
            <a:ext cx="365760" cy="365760"/>
          </a:xfrm>
          <a:prstGeom prst="rect">
            <a:avLst/>
          </a:prstGeom>
          <a:noFill/>
          <a:ln/>
        </p:spPr>
        <p:txBody>
          <a:bodyPr wrap="square" rtlCol="0" anchor="ctr"/>
          <a:lstStyle/>
          <a:p>
            <a:pPr marL="0" indent="0" algn="ctr">
              <a:buNone/>
            </a:pPr>
            <a:r>
              <a:rPr lang="en-US" sz="1200" b="1" dirty="0">
                <a:solidFill>
                  <a:srgbClr val="5B6485"/>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914400" y="4069080"/>
            <a:ext cx="10332720" cy="502920"/>
          </a:xfrm>
          <a:prstGeom prst="rect">
            <a:avLst/>
          </a:prstGeom>
          <a:noFill/>
          <a:ln/>
        </p:spPr>
        <p:txBody>
          <a:bodyPr wrap="square" rtlCol="0" anchor="ctr"/>
          <a:lstStyle/>
          <a:p>
            <a:pPr marL="0" indent="0" algn="ctr">
              <a:buNone/>
            </a:pPr>
            <a:r>
              <a:rPr lang="en-US" sz="1300" i="1" dirty="0">
                <a:solidFill>
                  <a:srgbClr val="5B6485"/>
                </a:solidFill>
                <a:latin typeface="Calibri" pitchFamily="34" charset="0"/>
                <a:ea typeface="Calibri" pitchFamily="34" charset="-122"/>
                <a:cs typeface="Calibri" pitchFamily="34" charset="-120"/>
              </a:rPr>
              <a:t>The explorer receives a request from the user through one of its six modules, issues the matching Linux system call, and lets the kernel carry out the operation — file, process, memory or IPC — before returning a clear result to the user.</a:t>
            </a:r>
            <a:endParaRPr lang="en-US" sz="1300" dirty="0"/>
          </a:p>
        </p:txBody>
      </p:sp>
      <p:sp>
        <p:nvSpPr>
          <p:cNvPr id="24" name="Shape 22"/>
          <p:cNvSpPr/>
          <p:nvPr/>
        </p:nvSpPr>
        <p:spPr>
          <a:xfrm>
            <a:off x="914400" y="4754880"/>
            <a:ext cx="10332720" cy="457200"/>
          </a:xfrm>
          <a:prstGeom prst="roundRect">
            <a:avLst>
              <a:gd name="adj" fmla="val 16000"/>
            </a:avLst>
          </a:prstGeom>
          <a:solidFill>
            <a:srgbClr val="CADCFC"/>
          </a:solidFill>
          <a:ln/>
        </p:spPr>
      </p:sp>
      <p:sp>
        <p:nvSpPr>
          <p:cNvPr id="25" name="Text 23"/>
          <p:cNvSpPr/>
          <p:nvPr/>
        </p:nvSpPr>
        <p:spPr>
          <a:xfrm>
            <a:off x="1143000" y="4754880"/>
            <a:ext cx="365760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User-Space Application</a:t>
            </a:r>
            <a:endParaRPr lang="en-US" sz="1200" dirty="0"/>
          </a:p>
        </p:txBody>
      </p:sp>
      <p:sp>
        <p:nvSpPr>
          <p:cNvPr id="26" name="Text 24"/>
          <p:cNvSpPr/>
          <p:nvPr/>
        </p:nvSpPr>
        <p:spPr>
          <a:xfrm>
            <a:off x="4846320" y="4754880"/>
            <a:ext cx="6217920" cy="457200"/>
          </a:xfrm>
          <a:prstGeom prst="rect">
            <a:avLst/>
          </a:prstGeom>
          <a:noFill/>
          <a:ln/>
        </p:spPr>
        <p:txBody>
          <a:bodyPr wrap="square" rtlCol="0" anchor="ctr"/>
          <a:lstStyle/>
          <a:p>
            <a:pPr marL="0" indent="0">
              <a:buNone/>
            </a:pPr>
            <a:r>
              <a:rPr lang="en-US" sz="1100" dirty="0">
                <a:solidFill>
                  <a:srgbClr val="5B6485"/>
                </a:solidFill>
                <a:latin typeface="Calibri" pitchFamily="34" charset="0"/>
                <a:ea typeface="Calibri" pitchFamily="34" charset="-122"/>
                <a:cs typeface="Calibri" pitchFamily="34" charset="-120"/>
              </a:rPr>
              <a:t>Six interactive modules accept requests from the user</a:t>
            </a:r>
            <a:endParaRPr lang="en-US" sz="1100" dirty="0"/>
          </a:p>
        </p:txBody>
      </p:sp>
      <p:sp>
        <p:nvSpPr>
          <p:cNvPr id="27" name="Shape 25"/>
          <p:cNvSpPr/>
          <p:nvPr/>
        </p:nvSpPr>
        <p:spPr>
          <a:xfrm>
            <a:off x="914400" y="5276088"/>
            <a:ext cx="10332720" cy="457200"/>
          </a:xfrm>
          <a:prstGeom prst="roundRect">
            <a:avLst>
              <a:gd name="adj" fmla="val 16000"/>
            </a:avLst>
          </a:prstGeom>
          <a:solidFill>
            <a:srgbClr val="F3F6FC"/>
          </a:solidFill>
          <a:ln/>
        </p:spPr>
      </p:sp>
      <p:sp>
        <p:nvSpPr>
          <p:cNvPr id="28" name="Text 26"/>
          <p:cNvSpPr/>
          <p:nvPr/>
        </p:nvSpPr>
        <p:spPr>
          <a:xfrm>
            <a:off x="1143000" y="5276088"/>
            <a:ext cx="365760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System Call Interface</a:t>
            </a:r>
            <a:endParaRPr lang="en-US" sz="1200" dirty="0"/>
          </a:p>
        </p:txBody>
      </p:sp>
      <p:sp>
        <p:nvSpPr>
          <p:cNvPr id="29" name="Text 27"/>
          <p:cNvSpPr/>
          <p:nvPr/>
        </p:nvSpPr>
        <p:spPr>
          <a:xfrm>
            <a:off x="4846320" y="5276088"/>
            <a:ext cx="6217920" cy="457200"/>
          </a:xfrm>
          <a:prstGeom prst="rect">
            <a:avLst/>
          </a:prstGeom>
          <a:noFill/>
          <a:ln/>
        </p:spPr>
        <p:txBody>
          <a:bodyPr wrap="square" rtlCol="0" anchor="ctr"/>
          <a:lstStyle/>
          <a:p>
            <a:pPr marL="0" indent="0">
              <a:buNone/>
            </a:pPr>
            <a:r>
              <a:rPr lang="en-US" sz="1100" dirty="0">
                <a:solidFill>
                  <a:srgbClr val="5B6485"/>
                </a:solidFill>
                <a:latin typeface="Calibri" pitchFamily="34" charset="0"/>
                <a:ea typeface="Calibri" pitchFamily="34" charset="-122"/>
                <a:cs typeface="Calibri" pitchFamily="34" charset="-120"/>
              </a:rPr>
              <a:t>open, read, stat, opendir, fork, mmap, pipe, shmget, msgget</a:t>
            </a:r>
            <a:endParaRPr lang="en-US" sz="1100" dirty="0"/>
          </a:p>
        </p:txBody>
      </p:sp>
      <p:sp>
        <p:nvSpPr>
          <p:cNvPr id="30" name="Shape 28"/>
          <p:cNvSpPr/>
          <p:nvPr/>
        </p:nvSpPr>
        <p:spPr>
          <a:xfrm>
            <a:off x="914400" y="5797296"/>
            <a:ext cx="10332720" cy="457200"/>
          </a:xfrm>
          <a:prstGeom prst="roundRect">
            <a:avLst>
              <a:gd name="adj" fmla="val 16000"/>
            </a:avLst>
          </a:prstGeom>
          <a:solidFill>
            <a:srgbClr val="1E2761"/>
          </a:solidFill>
          <a:ln/>
        </p:spPr>
      </p:sp>
      <p:sp>
        <p:nvSpPr>
          <p:cNvPr id="31" name="Text 29"/>
          <p:cNvSpPr/>
          <p:nvPr/>
        </p:nvSpPr>
        <p:spPr>
          <a:xfrm>
            <a:off x="1143000" y="5797296"/>
            <a:ext cx="36576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Linux Kernel / VFS</a:t>
            </a:r>
            <a:endParaRPr lang="en-US" sz="1200" dirty="0"/>
          </a:p>
        </p:txBody>
      </p:sp>
      <p:sp>
        <p:nvSpPr>
          <p:cNvPr id="32" name="Text 30"/>
          <p:cNvSpPr/>
          <p:nvPr/>
        </p:nvSpPr>
        <p:spPr>
          <a:xfrm>
            <a:off x="4846320" y="5797296"/>
            <a:ext cx="6217920" cy="45720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Routes requests to the file, process, memory &amp; IPC subsystems</a:t>
            </a:r>
            <a:endParaRPr lang="en-US" sz="1100" dirty="0"/>
          </a:p>
        </p:txBody>
      </p:sp>
      <p:sp>
        <p:nvSpPr>
          <p:cNvPr id="33" name="Text 31"/>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34" name="Text 32"/>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SETUP</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Software Requirements</a:t>
            </a:r>
            <a:endParaRPr lang="en-US" sz="3200" dirty="0"/>
          </a:p>
        </p:txBody>
      </p:sp>
      <p:sp>
        <p:nvSpPr>
          <p:cNvPr id="4" name="Shape 2"/>
          <p:cNvSpPr/>
          <p:nvPr/>
        </p:nvSpPr>
        <p:spPr>
          <a:xfrm>
            <a:off x="548640" y="1691640"/>
            <a:ext cx="5349240" cy="1874520"/>
          </a:xfrm>
          <a:prstGeom prst="roundRect">
            <a:avLst>
              <a:gd name="adj" fmla="val 5854"/>
            </a:avLst>
          </a:prstGeom>
          <a:solidFill>
            <a:srgbClr val="F3F6FC"/>
          </a:solidFill>
          <a:ln/>
        </p:spPr>
      </p:sp>
      <p:sp>
        <p:nvSpPr>
          <p:cNvPr id="5" name="Shape 3"/>
          <p:cNvSpPr/>
          <p:nvPr/>
        </p:nvSpPr>
        <p:spPr>
          <a:xfrm>
            <a:off x="822960" y="1965960"/>
            <a:ext cx="502920" cy="502920"/>
          </a:xfrm>
          <a:prstGeom prst="ellipse">
            <a:avLst/>
          </a:prstGeom>
          <a:solidFill>
            <a:srgbClr val="1E2761"/>
          </a:solidFill>
          <a:ln/>
        </p:spPr>
      </p:sp>
      <p:sp>
        <p:nvSpPr>
          <p:cNvPr id="6" name="Text 4"/>
          <p:cNvSpPr/>
          <p:nvPr/>
        </p:nvSpPr>
        <p:spPr>
          <a:xfrm>
            <a:off x="82296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08760" y="1947672"/>
            <a:ext cx="41605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Operating System</a:t>
            </a:r>
            <a:endParaRPr lang="en-US" sz="1500" dirty="0"/>
          </a:p>
        </p:txBody>
      </p:sp>
      <p:sp>
        <p:nvSpPr>
          <p:cNvPr id="8" name="Text 6"/>
          <p:cNvSpPr/>
          <p:nvPr/>
        </p:nvSpPr>
        <p:spPr>
          <a:xfrm>
            <a:off x="868680" y="2468880"/>
            <a:ext cx="4709160" cy="960120"/>
          </a:xfrm>
          <a:prstGeom prst="rect">
            <a:avLst/>
          </a:prstGeom>
          <a:noFill/>
          <a:ln/>
        </p:spPr>
        <p:txBody>
          <a:bodyPr wrap="square" rtlCol="0" anchor="t"/>
          <a:lstStyle/>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Linux (Ubuntu 22.04 / 24.04 or later)</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POSIX-compliant kernel &amp; shell</a:t>
            </a:r>
            <a:endParaRPr lang="en-US" sz="1200" dirty="0"/>
          </a:p>
        </p:txBody>
      </p:sp>
      <p:sp>
        <p:nvSpPr>
          <p:cNvPr id="9" name="Shape 7"/>
          <p:cNvSpPr/>
          <p:nvPr/>
        </p:nvSpPr>
        <p:spPr>
          <a:xfrm>
            <a:off x="6263640" y="1691640"/>
            <a:ext cx="5349240" cy="1874520"/>
          </a:xfrm>
          <a:prstGeom prst="roundRect">
            <a:avLst>
              <a:gd name="adj" fmla="val 5854"/>
            </a:avLst>
          </a:prstGeom>
          <a:solidFill>
            <a:srgbClr val="F3F6FC"/>
          </a:solidFill>
          <a:ln/>
        </p:spPr>
      </p:sp>
      <p:sp>
        <p:nvSpPr>
          <p:cNvPr id="10" name="Shape 8"/>
          <p:cNvSpPr/>
          <p:nvPr/>
        </p:nvSpPr>
        <p:spPr>
          <a:xfrm>
            <a:off x="6537960" y="1965960"/>
            <a:ext cx="502920" cy="502920"/>
          </a:xfrm>
          <a:prstGeom prst="ellipse">
            <a:avLst/>
          </a:prstGeom>
          <a:solidFill>
            <a:srgbClr val="1E2761"/>
          </a:solidFill>
          <a:ln/>
        </p:spPr>
      </p:sp>
      <p:sp>
        <p:nvSpPr>
          <p:cNvPr id="11" name="Text 9"/>
          <p:cNvSpPr/>
          <p:nvPr/>
        </p:nvSpPr>
        <p:spPr>
          <a:xfrm>
            <a:off x="653796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223760" y="1947672"/>
            <a:ext cx="41605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Language &amp; Compiler</a:t>
            </a:r>
            <a:endParaRPr lang="en-US" sz="1500" dirty="0"/>
          </a:p>
        </p:txBody>
      </p:sp>
      <p:sp>
        <p:nvSpPr>
          <p:cNvPr id="13" name="Text 11"/>
          <p:cNvSpPr/>
          <p:nvPr/>
        </p:nvSpPr>
        <p:spPr>
          <a:xfrm>
            <a:off x="6583680" y="2468880"/>
            <a:ext cx="4709160" cy="960120"/>
          </a:xfrm>
          <a:prstGeom prst="rect">
            <a:avLst/>
          </a:prstGeom>
          <a:noFill/>
          <a:ln/>
        </p:spPr>
        <p:txBody>
          <a:bodyPr wrap="square" rtlCol="0" anchor="t"/>
          <a:lstStyle/>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C programming language</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GCC compiler toolchain</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Web-based front end (HTML / CSS / JavaScript)</a:t>
            </a:r>
            <a:endParaRPr lang="en-US" sz="1200" dirty="0"/>
          </a:p>
        </p:txBody>
      </p:sp>
      <p:sp>
        <p:nvSpPr>
          <p:cNvPr id="14" name="Shape 12"/>
          <p:cNvSpPr/>
          <p:nvPr/>
        </p:nvSpPr>
        <p:spPr>
          <a:xfrm>
            <a:off x="548640" y="3886200"/>
            <a:ext cx="5349240" cy="1874520"/>
          </a:xfrm>
          <a:prstGeom prst="roundRect">
            <a:avLst>
              <a:gd name="adj" fmla="val 5854"/>
            </a:avLst>
          </a:prstGeom>
          <a:solidFill>
            <a:srgbClr val="F3F6FC"/>
          </a:solidFill>
          <a:ln/>
        </p:spPr>
      </p:sp>
      <p:sp>
        <p:nvSpPr>
          <p:cNvPr id="15" name="Shape 13"/>
          <p:cNvSpPr/>
          <p:nvPr/>
        </p:nvSpPr>
        <p:spPr>
          <a:xfrm>
            <a:off x="822960" y="4160520"/>
            <a:ext cx="502920" cy="502920"/>
          </a:xfrm>
          <a:prstGeom prst="ellipse">
            <a:avLst/>
          </a:prstGeom>
          <a:solidFill>
            <a:srgbClr val="1E2761"/>
          </a:solidFill>
          <a:ln/>
        </p:spPr>
      </p:sp>
      <p:sp>
        <p:nvSpPr>
          <p:cNvPr id="16" name="Text 14"/>
          <p:cNvSpPr/>
          <p:nvPr/>
        </p:nvSpPr>
        <p:spPr>
          <a:xfrm>
            <a:off x="822960"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08760" y="4142232"/>
            <a:ext cx="41605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Libraries &amp; APIs</a:t>
            </a:r>
            <a:endParaRPr lang="en-US" sz="1500" dirty="0"/>
          </a:p>
        </p:txBody>
      </p:sp>
      <p:sp>
        <p:nvSpPr>
          <p:cNvPr id="18" name="Text 16"/>
          <p:cNvSpPr/>
          <p:nvPr/>
        </p:nvSpPr>
        <p:spPr>
          <a:xfrm>
            <a:off x="868680" y="4663440"/>
            <a:ext cx="4709160" cy="960120"/>
          </a:xfrm>
          <a:prstGeom prst="rect">
            <a:avLst/>
          </a:prstGeom>
          <a:noFill/>
          <a:ln/>
        </p:spPr>
        <p:txBody>
          <a:bodyPr wrap="square" rtlCol="0" anchor="t"/>
          <a:lstStyle/>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glibc / POSIX system call APIs</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sys/stat.h, fcntl.h, dirent.h, sys/mman.h</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sys/ipc.h, sys/wait.h, pthread.h</a:t>
            </a:r>
            <a:endParaRPr lang="en-US" sz="1200" dirty="0"/>
          </a:p>
        </p:txBody>
      </p:sp>
      <p:sp>
        <p:nvSpPr>
          <p:cNvPr id="19" name="Shape 17"/>
          <p:cNvSpPr/>
          <p:nvPr/>
        </p:nvSpPr>
        <p:spPr>
          <a:xfrm>
            <a:off x="6263640" y="3886200"/>
            <a:ext cx="5349240" cy="1874520"/>
          </a:xfrm>
          <a:prstGeom prst="roundRect">
            <a:avLst>
              <a:gd name="adj" fmla="val 5854"/>
            </a:avLst>
          </a:prstGeom>
          <a:solidFill>
            <a:srgbClr val="F3F6FC"/>
          </a:solidFill>
          <a:ln/>
        </p:spPr>
      </p:sp>
      <p:sp>
        <p:nvSpPr>
          <p:cNvPr id="20" name="Shape 18"/>
          <p:cNvSpPr/>
          <p:nvPr/>
        </p:nvSpPr>
        <p:spPr>
          <a:xfrm>
            <a:off x="6537960" y="4160520"/>
            <a:ext cx="502920" cy="502920"/>
          </a:xfrm>
          <a:prstGeom prst="ellipse">
            <a:avLst/>
          </a:prstGeom>
          <a:solidFill>
            <a:srgbClr val="1E2761"/>
          </a:solidFill>
          <a:ln/>
        </p:spPr>
      </p:sp>
      <p:sp>
        <p:nvSpPr>
          <p:cNvPr id="21" name="Text 19"/>
          <p:cNvSpPr/>
          <p:nvPr/>
        </p:nvSpPr>
        <p:spPr>
          <a:xfrm>
            <a:off x="6537960"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223760" y="4142232"/>
            <a:ext cx="41605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Development Tools</a:t>
            </a:r>
            <a:endParaRPr lang="en-US" sz="1500" dirty="0"/>
          </a:p>
        </p:txBody>
      </p:sp>
      <p:sp>
        <p:nvSpPr>
          <p:cNvPr id="23" name="Text 21"/>
          <p:cNvSpPr/>
          <p:nvPr/>
        </p:nvSpPr>
        <p:spPr>
          <a:xfrm>
            <a:off x="6583680" y="4663440"/>
            <a:ext cx="4709160" cy="960120"/>
          </a:xfrm>
          <a:prstGeom prst="rect">
            <a:avLst/>
          </a:prstGeom>
          <a:noFill/>
          <a:ln/>
        </p:spPr>
        <p:txBody>
          <a:bodyPr wrap="square" rtlCol="0" anchor="t"/>
          <a:lstStyle/>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Text editor / VS Code</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GDB for debugging, strace for syscall tracing</a:t>
            </a:r>
            <a:endParaRPr lang="en-US" sz="1200" dirty="0"/>
          </a:p>
          <a:p>
            <a:pPr marL="342900" indent="-342900">
              <a:lnSpc>
                <a:spcPct val="120000"/>
              </a:lnSpc>
              <a:buSzPct val="100000"/>
              <a:buChar char="•"/>
            </a:pPr>
            <a:r>
              <a:rPr lang="en-US" sz="1200" dirty="0">
                <a:solidFill>
                  <a:srgbClr val="1B1F3B"/>
                </a:solidFill>
                <a:latin typeface="Calibri" pitchFamily="34" charset="0"/>
                <a:ea typeface="Calibri" pitchFamily="34" charset="-122"/>
                <a:cs typeface="Calibri" pitchFamily="34" charset="-120"/>
              </a:rPr>
              <a:t>Make for build automation</a:t>
            </a:r>
            <a:endParaRPr lang="en-US" sz="1200" dirty="0"/>
          </a:p>
        </p:txBody>
      </p:sp>
      <p:sp>
        <p:nvSpPr>
          <p:cNvPr id="24" name="Text 22"/>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5" name="Text 23"/>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280160" y="-1280160"/>
            <a:ext cx="3840480" cy="3840480"/>
          </a:xfrm>
          <a:prstGeom prst="ellipse">
            <a:avLst/>
          </a:prstGeom>
          <a:solidFill>
            <a:srgbClr val="3B4CA0">
              <a:alpha val="40000"/>
            </a:srgbClr>
          </a:solidFill>
          <a:ln/>
        </p:spPr>
      </p:sp>
      <p:sp>
        <p:nvSpPr>
          <p:cNvPr id="3" name="Shape 1"/>
          <p:cNvSpPr/>
          <p:nvPr/>
        </p:nvSpPr>
        <p:spPr>
          <a:xfrm>
            <a:off x="9875520" y="4572000"/>
            <a:ext cx="3840480" cy="3840480"/>
          </a:xfrm>
          <a:prstGeom prst="ellipse">
            <a:avLst/>
          </a:prstGeom>
          <a:solidFill>
            <a:srgbClr val="3B4CA0">
              <a:alpha val="40000"/>
            </a:srgbClr>
          </a:solidFill>
          <a:ln/>
        </p:spPr>
      </p:sp>
      <p:sp>
        <p:nvSpPr>
          <p:cNvPr id="4" name="Text 2"/>
          <p:cNvSpPr/>
          <p:nvPr/>
        </p:nvSpPr>
        <p:spPr>
          <a:xfrm>
            <a:off x="822960" y="640080"/>
            <a:ext cx="5486400" cy="32004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SUMMING UP</a:t>
            </a:r>
            <a:endParaRPr lang="en-US" sz="1300" dirty="0"/>
          </a:p>
        </p:txBody>
      </p:sp>
      <p:sp>
        <p:nvSpPr>
          <p:cNvPr id="5" name="Text 3"/>
          <p:cNvSpPr/>
          <p:nvPr/>
        </p:nvSpPr>
        <p:spPr>
          <a:xfrm>
            <a:off x="822960" y="914400"/>
            <a:ext cx="73152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6" name="Text 4"/>
          <p:cNvSpPr/>
          <p:nvPr/>
        </p:nvSpPr>
        <p:spPr>
          <a:xfrm>
            <a:off x="822960" y="1828800"/>
            <a:ext cx="10515600" cy="914400"/>
          </a:xfrm>
          <a:prstGeom prst="rect">
            <a:avLst/>
          </a:prstGeom>
          <a:noFill/>
          <a:ln/>
        </p:spPr>
        <p:txBody>
          <a:bodyPr wrap="square" rtlCol="0" anchor="ctr"/>
          <a:lstStyle/>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The project delivers a working Linux System Explorer — an interactive toolkit that turns abstract OS theory into hands-on demonstrations across six modules.</a:t>
            </a:r>
            <a:endParaRPr lang="en-US" sz="1500" dirty="0"/>
          </a:p>
        </p:txBody>
      </p:sp>
      <p:sp>
        <p:nvSpPr>
          <p:cNvPr id="7" name="Shape 5"/>
          <p:cNvSpPr/>
          <p:nvPr/>
        </p:nvSpPr>
        <p:spPr>
          <a:xfrm>
            <a:off x="822960" y="2971800"/>
            <a:ext cx="10515600" cy="685800"/>
          </a:xfrm>
          <a:prstGeom prst="roundRect">
            <a:avLst>
              <a:gd name="adj" fmla="val 13333"/>
            </a:avLst>
          </a:prstGeom>
          <a:solidFill>
            <a:srgbClr val="3B4CA0"/>
          </a:solidFill>
          <a:ln/>
        </p:spPr>
      </p:sp>
      <p:sp>
        <p:nvSpPr>
          <p:cNvPr id="8" name="Shape 6"/>
          <p:cNvSpPr/>
          <p:nvPr/>
        </p:nvSpPr>
        <p:spPr>
          <a:xfrm>
            <a:off x="1005840" y="3063240"/>
            <a:ext cx="457200" cy="457200"/>
          </a:xfrm>
          <a:prstGeom prst="ellipse">
            <a:avLst/>
          </a:prstGeom>
          <a:solidFill>
            <a:srgbClr val="1E2761"/>
          </a:solidFill>
          <a:ln/>
        </p:spPr>
      </p:sp>
      <p:sp>
        <p:nvSpPr>
          <p:cNvPr id="9" name="Text 7"/>
          <p:cNvSpPr/>
          <p:nvPr/>
        </p:nvSpPr>
        <p:spPr>
          <a:xfrm>
            <a:off x="1005840" y="3063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0" name="Text 8"/>
          <p:cNvSpPr/>
          <p:nvPr/>
        </p:nvSpPr>
        <p:spPr>
          <a:xfrm>
            <a:off x="1645920" y="2971800"/>
            <a:ext cx="9509760" cy="6858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Six modules: files, processes, virtual memory, IPC, file analysis &amp; tracing</a:t>
            </a:r>
            <a:endParaRPr lang="en-US" sz="1350" dirty="0"/>
          </a:p>
        </p:txBody>
      </p:sp>
      <p:sp>
        <p:nvSpPr>
          <p:cNvPr id="11" name="Shape 9"/>
          <p:cNvSpPr/>
          <p:nvPr/>
        </p:nvSpPr>
        <p:spPr>
          <a:xfrm>
            <a:off x="822960" y="3840480"/>
            <a:ext cx="10515600" cy="685800"/>
          </a:xfrm>
          <a:prstGeom prst="roundRect">
            <a:avLst>
              <a:gd name="adj" fmla="val 13333"/>
            </a:avLst>
          </a:prstGeom>
          <a:solidFill>
            <a:srgbClr val="3B4CA0"/>
          </a:solidFill>
          <a:ln/>
        </p:spPr>
      </p:sp>
      <p:sp>
        <p:nvSpPr>
          <p:cNvPr id="12" name="Shape 10"/>
          <p:cNvSpPr/>
          <p:nvPr/>
        </p:nvSpPr>
        <p:spPr>
          <a:xfrm>
            <a:off x="1005840" y="3931920"/>
            <a:ext cx="457200" cy="457200"/>
          </a:xfrm>
          <a:prstGeom prst="ellipse">
            <a:avLst/>
          </a:prstGeom>
          <a:solidFill>
            <a:srgbClr val="1E2761"/>
          </a:solidFill>
          <a:ln/>
        </p:spPr>
      </p:sp>
      <p:sp>
        <p:nvSpPr>
          <p:cNvPr id="13" name="Text 11"/>
          <p:cNvSpPr/>
          <p:nvPr/>
        </p:nvSpPr>
        <p:spPr>
          <a:xfrm>
            <a:off x="1005840" y="3931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4" name="Text 12"/>
          <p:cNvSpPr/>
          <p:nvPr/>
        </p:nvSpPr>
        <p:spPr>
          <a:xfrm>
            <a:off x="1645920" y="3840480"/>
            <a:ext cx="9509760" cy="6858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Demonstrates IPC mechanisms and concurrent file processing in practice</a:t>
            </a:r>
            <a:endParaRPr lang="en-US" sz="1350" dirty="0"/>
          </a:p>
        </p:txBody>
      </p:sp>
      <p:sp>
        <p:nvSpPr>
          <p:cNvPr id="15" name="Shape 13"/>
          <p:cNvSpPr/>
          <p:nvPr/>
        </p:nvSpPr>
        <p:spPr>
          <a:xfrm>
            <a:off x="822960" y="4709160"/>
            <a:ext cx="10515600" cy="685800"/>
          </a:xfrm>
          <a:prstGeom prst="roundRect">
            <a:avLst>
              <a:gd name="adj" fmla="val 13333"/>
            </a:avLst>
          </a:prstGeom>
          <a:solidFill>
            <a:srgbClr val="3B4CA0"/>
          </a:solidFill>
          <a:ln/>
        </p:spPr>
      </p:sp>
      <p:sp>
        <p:nvSpPr>
          <p:cNvPr id="16" name="Shape 14"/>
          <p:cNvSpPr/>
          <p:nvPr/>
        </p:nvSpPr>
        <p:spPr>
          <a:xfrm>
            <a:off x="1005840" y="4800600"/>
            <a:ext cx="457200" cy="457200"/>
          </a:xfrm>
          <a:prstGeom prst="ellipse">
            <a:avLst/>
          </a:prstGeom>
          <a:solidFill>
            <a:srgbClr val="1E2761"/>
          </a:solidFill>
          <a:ln/>
        </p:spPr>
      </p:sp>
      <p:sp>
        <p:nvSpPr>
          <p:cNvPr id="17" name="Text 15"/>
          <p:cNvSpPr/>
          <p:nvPr/>
        </p:nvSpPr>
        <p:spPr>
          <a:xfrm>
            <a:off x="1005840" y="4800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p:nvPr/>
        </p:nvSpPr>
        <p:spPr>
          <a:xfrm>
            <a:off x="1645920" y="4709160"/>
            <a:ext cx="9509760" cy="6858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Strengthens understanding of user-space to kernel-space interaction</a:t>
            </a:r>
            <a:endParaRPr lang="en-US" sz="1350" dirty="0"/>
          </a:p>
        </p:txBody>
      </p:sp>
      <p:sp>
        <p:nvSpPr>
          <p:cNvPr id="19" name="Text 17"/>
          <p:cNvSpPr/>
          <p:nvPr/>
        </p:nvSpPr>
        <p:spPr>
          <a:xfrm>
            <a:off x="822960" y="5760720"/>
            <a:ext cx="5486400" cy="457200"/>
          </a:xfrm>
          <a:prstGeom prst="rect">
            <a:avLst/>
          </a:prstGeom>
          <a:noFill/>
          <a:ln/>
        </p:spPr>
        <p:txBody>
          <a:bodyPr wrap="square" rtlCol="0" anchor="ctr"/>
          <a:lstStyle/>
          <a:p>
            <a:pPr marL="0" indent="0">
              <a:buNone/>
            </a:pPr>
            <a:r>
              <a:rPr lang="en-US" sz="1600" i="1" dirty="0">
                <a:solidFill>
                  <a:srgbClr val="CADCFC"/>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652378EE-2FC8-34AC-36FC-FBA8B7D9BF76}"/>
              </a:ext>
            </a:extLst>
          </p:cNvPr>
          <p:cNvSpPr/>
          <p:nvPr/>
        </p:nvSpPr>
        <p:spPr>
          <a:xfrm>
            <a:off x="1997150" y="1796901"/>
            <a:ext cx="10113334" cy="5061099"/>
          </a:xfrm>
          <a:prstGeom prst="roundRect">
            <a:avLst>
              <a:gd name="adj" fmla="val 50000"/>
            </a:avLst>
          </a:prstGeom>
          <a:solidFill>
            <a:srgbClr val="F3F6FC"/>
          </a:solidFill>
          <a:ln/>
        </p:spPr>
        <p:txBody>
          <a:bodyPr/>
          <a:lstStyle/>
          <a:p>
            <a:r>
              <a:rPr lang="en-AU" sz="10000" dirty="0"/>
              <a:t>THANK YOU</a:t>
            </a:r>
          </a:p>
        </p:txBody>
      </p:sp>
    </p:spTree>
    <p:extLst>
      <p:ext uri="{BB962C8B-B14F-4D97-AF65-F5344CB8AC3E}">
        <p14:creationId xmlns:p14="http://schemas.microsoft.com/office/powerpoint/2010/main" val="2562065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WHAT WE BUILT</a:t>
            </a:r>
            <a:endParaRPr lang="en-US" sz="1300" dirty="0"/>
          </a:p>
        </p:txBody>
      </p:sp>
      <p:sp>
        <p:nvSpPr>
          <p:cNvPr id="3" name="Text 3"/>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System Modules</a:t>
            </a:r>
            <a:endParaRPr lang="en-US" sz="3200" dirty="0"/>
          </a:p>
        </p:txBody>
      </p:sp>
      <p:sp>
        <p:nvSpPr>
          <p:cNvPr id="4" name="Shape 4"/>
          <p:cNvSpPr/>
          <p:nvPr/>
        </p:nvSpPr>
        <p:spPr>
          <a:xfrm>
            <a:off x="548640" y="1600200"/>
            <a:ext cx="3505200" cy="1737360"/>
          </a:xfrm>
          <a:prstGeom prst="roundRect">
            <a:avLst>
              <a:gd name="adj" fmla="val 3529"/>
            </a:avLst>
          </a:prstGeom>
          <a:solidFill>
            <a:srgbClr val="F3F6FC"/>
          </a:solidFill>
          <a:ln/>
        </p:spPr>
      </p:sp>
      <p:sp>
        <p:nvSpPr>
          <p:cNvPr id="5" name="Shape 5"/>
          <p:cNvSpPr/>
          <p:nvPr/>
        </p:nvSpPr>
        <p:spPr>
          <a:xfrm>
            <a:off x="822960" y="1783080"/>
            <a:ext cx="457200" cy="457200"/>
          </a:xfrm>
          <a:prstGeom prst="ellipse">
            <a:avLst/>
          </a:prstGeom>
          <a:solidFill>
            <a:srgbClr val="1E2761"/>
          </a:solidFill>
          <a:ln/>
        </p:spPr>
      </p:sp>
      <p:sp>
        <p:nvSpPr>
          <p:cNvPr id="6" name="Text 6"/>
          <p:cNvSpPr/>
          <p:nvPr/>
        </p:nvSpPr>
        <p:spPr>
          <a:xfrm>
            <a:off x="82296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7"/>
          <p:cNvSpPr/>
          <p:nvPr/>
        </p:nvSpPr>
        <p:spPr>
          <a:xfrm>
            <a:off x="1417320" y="178308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1</a:t>
            </a:r>
            <a:endParaRPr lang="en-US" sz="1100" dirty="0"/>
          </a:p>
        </p:txBody>
      </p:sp>
      <p:sp>
        <p:nvSpPr>
          <p:cNvPr id="8" name="Text 8"/>
          <p:cNvSpPr/>
          <p:nvPr/>
        </p:nvSpPr>
        <p:spPr>
          <a:xfrm>
            <a:off x="822960" y="233172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File Explorer</a:t>
            </a:r>
            <a:endParaRPr lang="en-US" sz="1600" dirty="0"/>
          </a:p>
        </p:txBody>
      </p:sp>
      <p:sp>
        <p:nvSpPr>
          <p:cNvPr id="9" name="Text 9"/>
          <p:cNvSpPr/>
          <p:nvPr/>
        </p:nvSpPr>
        <p:spPr>
          <a:xfrm>
            <a:off x="822960" y="265176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Explore files and directories and view their information.</a:t>
            </a:r>
            <a:endParaRPr lang="en-US" sz="1250" dirty="0"/>
          </a:p>
        </p:txBody>
      </p:sp>
      <p:sp>
        <p:nvSpPr>
          <p:cNvPr id="10" name="Shape 10"/>
          <p:cNvSpPr/>
          <p:nvPr/>
        </p:nvSpPr>
        <p:spPr>
          <a:xfrm>
            <a:off x="4328160" y="1600200"/>
            <a:ext cx="3505200" cy="1737360"/>
          </a:xfrm>
          <a:prstGeom prst="roundRect">
            <a:avLst>
              <a:gd name="adj" fmla="val 3529"/>
            </a:avLst>
          </a:prstGeom>
          <a:solidFill>
            <a:srgbClr val="F3F6FC"/>
          </a:solidFill>
          <a:ln/>
        </p:spPr>
      </p:sp>
      <p:sp>
        <p:nvSpPr>
          <p:cNvPr id="11" name="Shape 11"/>
          <p:cNvSpPr/>
          <p:nvPr/>
        </p:nvSpPr>
        <p:spPr>
          <a:xfrm>
            <a:off x="4602480" y="1783080"/>
            <a:ext cx="457200" cy="457200"/>
          </a:xfrm>
          <a:prstGeom prst="ellipse">
            <a:avLst/>
          </a:prstGeom>
          <a:solidFill>
            <a:srgbClr val="1E2761"/>
          </a:solidFill>
          <a:ln/>
        </p:spPr>
      </p:sp>
      <p:sp>
        <p:nvSpPr>
          <p:cNvPr id="12" name="Text 12"/>
          <p:cNvSpPr/>
          <p:nvPr/>
        </p:nvSpPr>
        <p:spPr>
          <a:xfrm>
            <a:off x="460248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3"/>
          <p:cNvSpPr/>
          <p:nvPr/>
        </p:nvSpPr>
        <p:spPr>
          <a:xfrm>
            <a:off x="5196840" y="178308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2</a:t>
            </a:r>
            <a:endParaRPr lang="en-US" sz="1100" dirty="0"/>
          </a:p>
        </p:txBody>
      </p:sp>
      <p:sp>
        <p:nvSpPr>
          <p:cNvPr id="14" name="Text 14"/>
          <p:cNvSpPr/>
          <p:nvPr/>
        </p:nvSpPr>
        <p:spPr>
          <a:xfrm>
            <a:off x="4602480" y="233172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Process Explorer</a:t>
            </a:r>
            <a:endParaRPr lang="en-US" sz="1600" dirty="0"/>
          </a:p>
        </p:txBody>
      </p:sp>
      <p:sp>
        <p:nvSpPr>
          <p:cNvPr id="15" name="Text 15"/>
          <p:cNvSpPr/>
          <p:nvPr/>
        </p:nvSpPr>
        <p:spPr>
          <a:xfrm>
            <a:off x="4602480" y="265176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View currently running Linux processes.</a:t>
            </a:r>
            <a:endParaRPr lang="en-US" sz="1250" dirty="0"/>
          </a:p>
        </p:txBody>
      </p:sp>
      <p:sp>
        <p:nvSpPr>
          <p:cNvPr id="16" name="Shape 16"/>
          <p:cNvSpPr/>
          <p:nvPr/>
        </p:nvSpPr>
        <p:spPr>
          <a:xfrm>
            <a:off x="8107680" y="1600200"/>
            <a:ext cx="3505200" cy="1737360"/>
          </a:xfrm>
          <a:prstGeom prst="roundRect">
            <a:avLst>
              <a:gd name="adj" fmla="val 3529"/>
            </a:avLst>
          </a:prstGeom>
          <a:solidFill>
            <a:srgbClr val="F3F6FC"/>
          </a:solidFill>
          <a:ln/>
        </p:spPr>
      </p:sp>
      <p:sp>
        <p:nvSpPr>
          <p:cNvPr id="17" name="Shape 17"/>
          <p:cNvSpPr/>
          <p:nvPr/>
        </p:nvSpPr>
        <p:spPr>
          <a:xfrm>
            <a:off x="8382000" y="1783080"/>
            <a:ext cx="457200" cy="457200"/>
          </a:xfrm>
          <a:prstGeom prst="ellipse">
            <a:avLst/>
          </a:prstGeom>
          <a:solidFill>
            <a:srgbClr val="1E2761"/>
          </a:solidFill>
          <a:ln/>
        </p:spPr>
      </p:sp>
      <p:sp>
        <p:nvSpPr>
          <p:cNvPr id="18" name="Text 18"/>
          <p:cNvSpPr/>
          <p:nvPr/>
        </p:nvSpPr>
        <p:spPr>
          <a:xfrm>
            <a:off x="838200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9"/>
          <p:cNvSpPr/>
          <p:nvPr/>
        </p:nvSpPr>
        <p:spPr>
          <a:xfrm>
            <a:off x="8976360" y="178308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3</a:t>
            </a:r>
            <a:endParaRPr lang="en-US" sz="1100" dirty="0"/>
          </a:p>
        </p:txBody>
      </p:sp>
      <p:sp>
        <p:nvSpPr>
          <p:cNvPr id="20" name="Text 20"/>
          <p:cNvSpPr/>
          <p:nvPr/>
        </p:nvSpPr>
        <p:spPr>
          <a:xfrm>
            <a:off x="8382000" y="233172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Virtual Memory</a:t>
            </a:r>
            <a:endParaRPr lang="en-US" sz="1600" dirty="0"/>
          </a:p>
        </p:txBody>
      </p:sp>
      <p:sp>
        <p:nvSpPr>
          <p:cNvPr id="21" name="Text 21"/>
          <p:cNvSpPr/>
          <p:nvPr/>
        </p:nvSpPr>
        <p:spPr>
          <a:xfrm>
            <a:off x="8382000" y="265176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Demonstrate virtual memory and memory allocation.</a:t>
            </a:r>
            <a:endParaRPr lang="en-US" sz="1250" dirty="0"/>
          </a:p>
        </p:txBody>
      </p:sp>
      <p:sp>
        <p:nvSpPr>
          <p:cNvPr id="22" name="Shape 22"/>
          <p:cNvSpPr/>
          <p:nvPr/>
        </p:nvSpPr>
        <p:spPr>
          <a:xfrm>
            <a:off x="548640" y="3566160"/>
            <a:ext cx="3505200" cy="1737360"/>
          </a:xfrm>
          <a:prstGeom prst="roundRect">
            <a:avLst>
              <a:gd name="adj" fmla="val 3529"/>
            </a:avLst>
          </a:prstGeom>
          <a:solidFill>
            <a:srgbClr val="F3F6FC"/>
          </a:solidFill>
          <a:ln/>
        </p:spPr>
      </p:sp>
      <p:sp>
        <p:nvSpPr>
          <p:cNvPr id="23" name="Shape 23"/>
          <p:cNvSpPr/>
          <p:nvPr/>
        </p:nvSpPr>
        <p:spPr>
          <a:xfrm>
            <a:off x="822960" y="3749040"/>
            <a:ext cx="457200" cy="457200"/>
          </a:xfrm>
          <a:prstGeom prst="ellipse">
            <a:avLst/>
          </a:prstGeom>
          <a:solidFill>
            <a:srgbClr val="1E2761"/>
          </a:solidFill>
          <a:ln/>
        </p:spPr>
      </p:sp>
      <p:sp>
        <p:nvSpPr>
          <p:cNvPr id="24" name="Text 24"/>
          <p:cNvSpPr/>
          <p:nvPr/>
        </p:nvSpPr>
        <p:spPr>
          <a:xfrm>
            <a:off x="82296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5"/>
          <p:cNvSpPr/>
          <p:nvPr/>
        </p:nvSpPr>
        <p:spPr>
          <a:xfrm>
            <a:off x="1417320" y="374904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4</a:t>
            </a:r>
            <a:endParaRPr lang="en-US" sz="1100" dirty="0"/>
          </a:p>
        </p:txBody>
      </p:sp>
      <p:sp>
        <p:nvSpPr>
          <p:cNvPr id="26" name="Text 26"/>
          <p:cNvSpPr/>
          <p:nvPr/>
        </p:nvSpPr>
        <p:spPr>
          <a:xfrm>
            <a:off x="822960" y="429768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IPC Demonstrator</a:t>
            </a:r>
            <a:endParaRPr lang="en-US" sz="1600" dirty="0"/>
          </a:p>
        </p:txBody>
      </p:sp>
      <p:sp>
        <p:nvSpPr>
          <p:cNvPr id="27" name="Text 27"/>
          <p:cNvSpPr/>
          <p:nvPr/>
        </p:nvSpPr>
        <p:spPr>
          <a:xfrm>
            <a:off x="822960" y="461772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Explore Pipe, FIFO, Shared Memory and Message Queue.</a:t>
            </a:r>
            <a:endParaRPr lang="en-US" sz="1250" dirty="0"/>
          </a:p>
        </p:txBody>
      </p:sp>
      <p:sp>
        <p:nvSpPr>
          <p:cNvPr id="28" name="Shape 28"/>
          <p:cNvSpPr/>
          <p:nvPr/>
        </p:nvSpPr>
        <p:spPr>
          <a:xfrm>
            <a:off x="4328160" y="3566160"/>
            <a:ext cx="3505200" cy="1737360"/>
          </a:xfrm>
          <a:prstGeom prst="roundRect">
            <a:avLst>
              <a:gd name="adj" fmla="val 3529"/>
            </a:avLst>
          </a:prstGeom>
          <a:solidFill>
            <a:srgbClr val="F3F6FC"/>
          </a:solidFill>
          <a:ln/>
        </p:spPr>
      </p:sp>
      <p:sp>
        <p:nvSpPr>
          <p:cNvPr id="29" name="Shape 29"/>
          <p:cNvSpPr/>
          <p:nvPr/>
        </p:nvSpPr>
        <p:spPr>
          <a:xfrm>
            <a:off x="4602480" y="3749040"/>
            <a:ext cx="457200" cy="457200"/>
          </a:xfrm>
          <a:prstGeom prst="ellipse">
            <a:avLst/>
          </a:prstGeom>
          <a:solidFill>
            <a:srgbClr val="1E2761"/>
          </a:solidFill>
          <a:ln/>
        </p:spPr>
      </p:sp>
      <p:sp>
        <p:nvSpPr>
          <p:cNvPr id="30" name="Text 30"/>
          <p:cNvSpPr/>
          <p:nvPr/>
        </p:nvSpPr>
        <p:spPr>
          <a:xfrm>
            <a:off x="460248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31"/>
          <p:cNvSpPr/>
          <p:nvPr/>
        </p:nvSpPr>
        <p:spPr>
          <a:xfrm>
            <a:off x="5196840" y="374904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5</a:t>
            </a:r>
            <a:endParaRPr lang="en-US" sz="1100" dirty="0"/>
          </a:p>
        </p:txBody>
      </p:sp>
      <p:sp>
        <p:nvSpPr>
          <p:cNvPr id="32" name="Text 32"/>
          <p:cNvSpPr/>
          <p:nvPr/>
        </p:nvSpPr>
        <p:spPr>
          <a:xfrm>
            <a:off x="4602480" y="429768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File Analyzer</a:t>
            </a:r>
            <a:endParaRPr lang="en-US" sz="1600" dirty="0"/>
          </a:p>
        </p:txBody>
      </p:sp>
      <p:sp>
        <p:nvSpPr>
          <p:cNvPr id="33" name="Text 33"/>
          <p:cNvSpPr/>
          <p:nvPr/>
        </p:nvSpPr>
        <p:spPr>
          <a:xfrm>
            <a:off x="4602480" y="461772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Analyze files using concurrent processing.</a:t>
            </a:r>
            <a:endParaRPr lang="en-US" sz="1250" dirty="0"/>
          </a:p>
        </p:txBody>
      </p:sp>
      <p:sp>
        <p:nvSpPr>
          <p:cNvPr id="34" name="Shape 34"/>
          <p:cNvSpPr/>
          <p:nvPr/>
        </p:nvSpPr>
        <p:spPr>
          <a:xfrm>
            <a:off x="8107680" y="3566160"/>
            <a:ext cx="3505200" cy="1737360"/>
          </a:xfrm>
          <a:prstGeom prst="roundRect">
            <a:avLst>
              <a:gd name="adj" fmla="val 3529"/>
            </a:avLst>
          </a:prstGeom>
          <a:solidFill>
            <a:srgbClr val="F3F6FC"/>
          </a:solidFill>
          <a:ln/>
        </p:spPr>
      </p:sp>
      <p:sp>
        <p:nvSpPr>
          <p:cNvPr id="35" name="Shape 35"/>
          <p:cNvSpPr/>
          <p:nvPr/>
        </p:nvSpPr>
        <p:spPr>
          <a:xfrm>
            <a:off x="8382000" y="3749040"/>
            <a:ext cx="457200" cy="457200"/>
          </a:xfrm>
          <a:prstGeom prst="ellipse">
            <a:avLst/>
          </a:prstGeom>
          <a:solidFill>
            <a:srgbClr val="1E2761"/>
          </a:solidFill>
          <a:ln/>
        </p:spPr>
      </p:sp>
      <p:sp>
        <p:nvSpPr>
          <p:cNvPr id="36" name="Text 36"/>
          <p:cNvSpPr/>
          <p:nvPr/>
        </p:nvSpPr>
        <p:spPr>
          <a:xfrm>
            <a:off x="838200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7" name="Text 37"/>
          <p:cNvSpPr/>
          <p:nvPr/>
        </p:nvSpPr>
        <p:spPr>
          <a:xfrm>
            <a:off x="8976360" y="3749040"/>
            <a:ext cx="2362200" cy="457200"/>
          </a:xfrm>
          <a:prstGeom prst="rect">
            <a:avLst/>
          </a:prstGeom>
          <a:noFill/>
          <a:ln/>
        </p:spPr>
        <p:txBody>
          <a:bodyPr wrap="square" rtlCol="0" anchor="ctr"/>
          <a:lstStyle/>
          <a:p>
            <a:pPr marL="0" indent="0">
              <a:buNone/>
            </a:pPr>
            <a:r>
              <a:rPr lang="en-US" sz="1100" b="1" kern="0" spc="150" dirty="0">
                <a:solidFill>
                  <a:srgbClr val="5B6485"/>
                </a:solidFill>
                <a:latin typeface="Calibri" pitchFamily="34" charset="0"/>
                <a:ea typeface="Calibri" pitchFamily="34" charset="-122"/>
                <a:cs typeface="Calibri" pitchFamily="34" charset="-120"/>
              </a:rPr>
              <a:t>MODULE 6</a:t>
            </a:r>
            <a:endParaRPr lang="en-US" sz="1100" dirty="0"/>
          </a:p>
        </p:txBody>
      </p:sp>
      <p:sp>
        <p:nvSpPr>
          <p:cNvPr id="38" name="Text 38"/>
          <p:cNvSpPr/>
          <p:nvPr/>
        </p:nvSpPr>
        <p:spPr>
          <a:xfrm>
            <a:off x="8382000" y="4297680"/>
            <a:ext cx="29565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System Call Trace</a:t>
            </a:r>
            <a:endParaRPr lang="en-US" sz="1600" dirty="0"/>
          </a:p>
        </p:txBody>
      </p:sp>
      <p:sp>
        <p:nvSpPr>
          <p:cNvPr id="39" name="Text 39"/>
          <p:cNvSpPr/>
          <p:nvPr/>
        </p:nvSpPr>
        <p:spPr>
          <a:xfrm>
            <a:off x="8382000" y="4617720"/>
            <a:ext cx="2956560" cy="64008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Observe Linux system calls using system-call tracing.</a:t>
            </a:r>
            <a:endParaRPr lang="en-US" sz="1250" dirty="0"/>
          </a:p>
        </p:txBody>
      </p:sp>
      <p:sp>
        <p:nvSpPr>
          <p:cNvPr id="40" name="Shape 40"/>
          <p:cNvSpPr/>
          <p:nvPr/>
        </p:nvSpPr>
        <p:spPr>
          <a:xfrm>
            <a:off x="548640" y="5532120"/>
            <a:ext cx="11064240" cy="640080"/>
          </a:xfrm>
          <a:prstGeom prst="roundRect">
            <a:avLst>
              <a:gd name="adj" fmla="val 10526"/>
            </a:avLst>
          </a:prstGeom>
          <a:solidFill>
            <a:srgbClr val="1E2761"/>
          </a:solidFill>
          <a:ln/>
        </p:spPr>
      </p:sp>
      <p:sp>
        <p:nvSpPr>
          <p:cNvPr id="41" name="Text 41"/>
          <p:cNvSpPr/>
          <p:nvPr/>
        </p:nvSpPr>
        <p:spPr>
          <a:xfrm>
            <a:off x="822960" y="5532120"/>
            <a:ext cx="10515600" cy="64008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All six modules run from one web interface — pick a module, open it, and explore.</a:t>
            </a:r>
            <a:endParaRPr lang="en-US" sz="1350" dirty="0"/>
          </a:p>
        </p:txBody>
      </p:sp>
      <p:sp>
        <p:nvSpPr>
          <p:cNvPr id="42" name="Text 42"/>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43" name="Text 43"/>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MODULES 1–3</a:t>
            </a:r>
            <a:endParaRPr lang="en-US" sz="1300" dirty="0"/>
          </a:p>
        </p:txBody>
      </p:sp>
      <p:sp>
        <p:nvSpPr>
          <p:cNvPr id="3" name="Text 3"/>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Files, Processes &amp; Memory</a:t>
            </a:r>
            <a:endParaRPr lang="en-US" sz="3200" dirty="0"/>
          </a:p>
        </p:txBody>
      </p:sp>
      <p:sp>
        <p:nvSpPr>
          <p:cNvPr id="4" name="Shape 4"/>
          <p:cNvSpPr/>
          <p:nvPr/>
        </p:nvSpPr>
        <p:spPr>
          <a:xfrm>
            <a:off x="548640" y="1600200"/>
            <a:ext cx="3520440" cy="3474720"/>
          </a:xfrm>
          <a:prstGeom prst="roundRect">
            <a:avLst>
              <a:gd name="adj" fmla="val 3529"/>
            </a:avLst>
          </a:prstGeom>
          <a:solidFill>
            <a:srgbClr val="F3F6FC"/>
          </a:solidFill>
          <a:ln/>
        </p:spPr>
      </p:sp>
      <p:sp>
        <p:nvSpPr>
          <p:cNvPr id="5" name="Shape 5"/>
          <p:cNvSpPr/>
          <p:nvPr/>
        </p:nvSpPr>
        <p:spPr>
          <a:xfrm>
            <a:off x="822960" y="1828800"/>
            <a:ext cx="502920" cy="502920"/>
          </a:xfrm>
          <a:prstGeom prst="ellipse">
            <a:avLst/>
          </a:prstGeom>
          <a:solidFill>
            <a:srgbClr val="1E2761"/>
          </a:solidFill>
          <a:ln/>
        </p:spPr>
      </p:sp>
      <p:sp>
        <p:nvSpPr>
          <p:cNvPr id="6" name="Text 6"/>
          <p:cNvSpPr/>
          <p:nvPr/>
        </p:nvSpPr>
        <p:spPr>
          <a:xfrm>
            <a:off x="82296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7"/>
          <p:cNvSpPr/>
          <p:nvPr/>
        </p:nvSpPr>
        <p:spPr>
          <a:xfrm>
            <a:off x="146304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File Explorer</a:t>
            </a:r>
            <a:endParaRPr lang="en-US" sz="1500" dirty="0"/>
          </a:p>
        </p:txBody>
      </p:sp>
      <p:sp>
        <p:nvSpPr>
          <p:cNvPr id="8" name="Text 8"/>
          <p:cNvSpPr/>
          <p:nvPr/>
        </p:nvSpPr>
        <p:spPr>
          <a:xfrm>
            <a:off x="82296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Browse files and directories and view their information, including inode metadata retrieved through stat().</a:t>
            </a:r>
            <a:endParaRPr lang="en-US" sz="1250" dirty="0"/>
          </a:p>
        </p:txBody>
      </p:sp>
      <p:sp>
        <p:nvSpPr>
          <p:cNvPr id="9" name="Shape 9"/>
          <p:cNvSpPr/>
          <p:nvPr/>
        </p:nvSpPr>
        <p:spPr>
          <a:xfrm>
            <a:off x="777240" y="3749040"/>
            <a:ext cx="3063240" cy="1143000"/>
          </a:xfrm>
          <a:prstGeom prst="roundRect">
            <a:avLst>
              <a:gd name="adj" fmla="val 8000"/>
            </a:avLst>
          </a:prstGeom>
          <a:solidFill>
            <a:srgbClr val="1E2761"/>
          </a:solidFill>
          <a:ln/>
        </p:spPr>
      </p:sp>
      <p:sp>
        <p:nvSpPr>
          <p:cNvPr id="10" name="Text 10"/>
          <p:cNvSpPr/>
          <p:nvPr/>
        </p:nvSpPr>
        <p:spPr>
          <a:xfrm>
            <a:off x="77724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opendir() / readdir()</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stat()</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open() / close()</a:t>
            </a:r>
            <a:endParaRPr lang="en-US" sz="1250" dirty="0"/>
          </a:p>
        </p:txBody>
      </p:sp>
      <p:sp>
        <p:nvSpPr>
          <p:cNvPr id="11" name="Shape 11"/>
          <p:cNvSpPr/>
          <p:nvPr/>
        </p:nvSpPr>
        <p:spPr>
          <a:xfrm>
            <a:off x="4343400" y="1600200"/>
            <a:ext cx="3520440" cy="3474720"/>
          </a:xfrm>
          <a:prstGeom prst="roundRect">
            <a:avLst>
              <a:gd name="adj" fmla="val 3529"/>
            </a:avLst>
          </a:prstGeom>
          <a:solidFill>
            <a:srgbClr val="F3F6FC"/>
          </a:solidFill>
          <a:ln/>
        </p:spPr>
      </p:sp>
      <p:sp>
        <p:nvSpPr>
          <p:cNvPr id="12" name="Shape 12"/>
          <p:cNvSpPr/>
          <p:nvPr/>
        </p:nvSpPr>
        <p:spPr>
          <a:xfrm>
            <a:off x="4617720" y="1828800"/>
            <a:ext cx="502920" cy="502920"/>
          </a:xfrm>
          <a:prstGeom prst="ellipse">
            <a:avLst/>
          </a:prstGeom>
          <a:solidFill>
            <a:srgbClr val="1E2761"/>
          </a:solidFill>
          <a:ln/>
        </p:spPr>
      </p:sp>
      <p:sp>
        <p:nvSpPr>
          <p:cNvPr id="13" name="Text 13"/>
          <p:cNvSpPr/>
          <p:nvPr/>
        </p:nvSpPr>
        <p:spPr>
          <a:xfrm>
            <a:off x="461772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4"/>
          <p:cNvSpPr/>
          <p:nvPr/>
        </p:nvSpPr>
        <p:spPr>
          <a:xfrm>
            <a:off x="525780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Process Explorer</a:t>
            </a:r>
            <a:endParaRPr lang="en-US" sz="1500" dirty="0"/>
          </a:p>
        </p:txBody>
      </p:sp>
      <p:sp>
        <p:nvSpPr>
          <p:cNvPr id="15" name="Text 15"/>
          <p:cNvSpPr/>
          <p:nvPr/>
        </p:nvSpPr>
        <p:spPr>
          <a:xfrm>
            <a:off x="461772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View currently running Linux processes and see how the kernel tracks each one as a separate unit of execution.</a:t>
            </a:r>
            <a:endParaRPr lang="en-US" sz="1250" dirty="0"/>
          </a:p>
        </p:txBody>
      </p:sp>
      <p:sp>
        <p:nvSpPr>
          <p:cNvPr id="16" name="Shape 16"/>
          <p:cNvSpPr/>
          <p:nvPr/>
        </p:nvSpPr>
        <p:spPr>
          <a:xfrm>
            <a:off x="4572000" y="3749040"/>
            <a:ext cx="3063240" cy="1143000"/>
          </a:xfrm>
          <a:prstGeom prst="roundRect">
            <a:avLst>
              <a:gd name="adj" fmla="val 8000"/>
            </a:avLst>
          </a:prstGeom>
          <a:solidFill>
            <a:srgbClr val="1E2761"/>
          </a:solidFill>
          <a:ln/>
        </p:spPr>
      </p:sp>
      <p:sp>
        <p:nvSpPr>
          <p:cNvPr id="17" name="Text 17"/>
          <p:cNvSpPr/>
          <p:nvPr/>
        </p:nvSpPr>
        <p:spPr>
          <a:xfrm>
            <a:off x="457200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fork() / execve()</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waitpid()</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getpid()</a:t>
            </a:r>
            <a:endParaRPr lang="en-US" sz="1250" dirty="0"/>
          </a:p>
        </p:txBody>
      </p:sp>
      <p:sp>
        <p:nvSpPr>
          <p:cNvPr id="18" name="Shape 18"/>
          <p:cNvSpPr/>
          <p:nvPr/>
        </p:nvSpPr>
        <p:spPr>
          <a:xfrm>
            <a:off x="8138160" y="1600200"/>
            <a:ext cx="3520440" cy="3474720"/>
          </a:xfrm>
          <a:prstGeom prst="roundRect">
            <a:avLst>
              <a:gd name="adj" fmla="val 3529"/>
            </a:avLst>
          </a:prstGeom>
          <a:solidFill>
            <a:srgbClr val="F3F6FC"/>
          </a:solidFill>
          <a:ln/>
        </p:spPr>
      </p:sp>
      <p:sp>
        <p:nvSpPr>
          <p:cNvPr id="19" name="Shape 19"/>
          <p:cNvSpPr/>
          <p:nvPr/>
        </p:nvSpPr>
        <p:spPr>
          <a:xfrm>
            <a:off x="8412480" y="1828800"/>
            <a:ext cx="502920" cy="502920"/>
          </a:xfrm>
          <a:prstGeom prst="ellipse">
            <a:avLst/>
          </a:prstGeom>
          <a:solidFill>
            <a:srgbClr val="1E2761"/>
          </a:solidFill>
          <a:ln/>
        </p:spPr>
      </p:sp>
      <p:sp>
        <p:nvSpPr>
          <p:cNvPr id="20" name="Text 20"/>
          <p:cNvSpPr/>
          <p:nvPr/>
        </p:nvSpPr>
        <p:spPr>
          <a:xfrm>
            <a:off x="841248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21"/>
          <p:cNvSpPr/>
          <p:nvPr/>
        </p:nvSpPr>
        <p:spPr>
          <a:xfrm>
            <a:off x="905256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Virtual Memory</a:t>
            </a:r>
            <a:endParaRPr lang="en-US" sz="1500" dirty="0"/>
          </a:p>
        </p:txBody>
      </p:sp>
      <p:sp>
        <p:nvSpPr>
          <p:cNvPr id="22" name="Text 22"/>
          <p:cNvSpPr/>
          <p:nvPr/>
        </p:nvSpPr>
        <p:spPr>
          <a:xfrm>
            <a:off x="841248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Demonstrate virtual memory and memory allocation — how each process gets its own address space mapped onto physical memory.</a:t>
            </a:r>
            <a:endParaRPr lang="en-US" sz="1250" dirty="0"/>
          </a:p>
        </p:txBody>
      </p:sp>
      <p:sp>
        <p:nvSpPr>
          <p:cNvPr id="23" name="Shape 23"/>
          <p:cNvSpPr/>
          <p:nvPr/>
        </p:nvSpPr>
        <p:spPr>
          <a:xfrm>
            <a:off x="8366760" y="3749040"/>
            <a:ext cx="3063240" cy="1143000"/>
          </a:xfrm>
          <a:prstGeom prst="roundRect">
            <a:avLst>
              <a:gd name="adj" fmla="val 8000"/>
            </a:avLst>
          </a:prstGeom>
          <a:solidFill>
            <a:srgbClr val="1E2761"/>
          </a:solidFill>
          <a:ln/>
        </p:spPr>
      </p:sp>
      <p:sp>
        <p:nvSpPr>
          <p:cNvPr id="24" name="Text 24"/>
          <p:cNvSpPr/>
          <p:nvPr/>
        </p:nvSpPr>
        <p:spPr>
          <a:xfrm>
            <a:off x="836676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mmap() / munmap()</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brk() / sbrk()</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malloc() / free() via libc</a:t>
            </a:r>
            <a:endParaRPr lang="en-US" sz="1250" dirty="0"/>
          </a:p>
        </p:txBody>
      </p:sp>
      <p:sp>
        <p:nvSpPr>
          <p:cNvPr id="25" name="Shape 25"/>
          <p:cNvSpPr/>
          <p:nvPr/>
        </p:nvSpPr>
        <p:spPr>
          <a:xfrm>
            <a:off x="548640" y="5303520"/>
            <a:ext cx="11064240" cy="685800"/>
          </a:xfrm>
          <a:prstGeom prst="roundRect">
            <a:avLst>
              <a:gd name="adj" fmla="val 10526"/>
            </a:avLst>
          </a:prstGeom>
          <a:solidFill>
            <a:srgbClr val="1E2761"/>
          </a:solidFill>
          <a:ln/>
        </p:spPr>
      </p:sp>
      <p:sp>
        <p:nvSpPr>
          <p:cNvPr id="26" name="Text 26"/>
          <p:cNvSpPr/>
          <p:nvPr/>
        </p:nvSpPr>
        <p:spPr>
          <a:xfrm>
            <a:off x="822960" y="5303520"/>
            <a:ext cx="10515600" cy="68580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Modules 1–3 cover the system’s core resources: files, processes and memory.</a:t>
            </a:r>
            <a:endParaRPr lang="en-US" sz="1350" dirty="0"/>
          </a:p>
        </p:txBody>
      </p:sp>
      <p:sp>
        <p:nvSpPr>
          <p:cNvPr id="27" name="Text 27"/>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8" name="Text 28"/>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3B4CA0"/>
                </a:solidFill>
                <a:latin typeface="Calibri" pitchFamily="34" charset="0"/>
                <a:ea typeface="Calibri" pitchFamily="34" charset="-122"/>
                <a:cs typeface="Calibri" pitchFamily="34" charset="-120"/>
              </a:rPr>
              <a:t>MODULES 4–6</a:t>
            </a:r>
            <a:endParaRPr lang="en-US" sz="1300" dirty="0"/>
          </a:p>
        </p:txBody>
      </p:sp>
      <p:sp>
        <p:nvSpPr>
          <p:cNvPr id="3" name="Text 3"/>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IPC, Concurrency &amp; Tracing</a:t>
            </a:r>
            <a:endParaRPr lang="en-US" sz="3200" dirty="0"/>
          </a:p>
        </p:txBody>
      </p:sp>
      <p:sp>
        <p:nvSpPr>
          <p:cNvPr id="4" name="Shape 4"/>
          <p:cNvSpPr/>
          <p:nvPr/>
        </p:nvSpPr>
        <p:spPr>
          <a:xfrm>
            <a:off x="548640" y="1600200"/>
            <a:ext cx="3520440" cy="3474720"/>
          </a:xfrm>
          <a:prstGeom prst="roundRect">
            <a:avLst>
              <a:gd name="adj" fmla="val 3529"/>
            </a:avLst>
          </a:prstGeom>
          <a:solidFill>
            <a:srgbClr val="F3F6FC"/>
          </a:solidFill>
          <a:ln/>
        </p:spPr>
      </p:sp>
      <p:sp>
        <p:nvSpPr>
          <p:cNvPr id="5" name="Shape 5"/>
          <p:cNvSpPr/>
          <p:nvPr/>
        </p:nvSpPr>
        <p:spPr>
          <a:xfrm>
            <a:off x="822960" y="1828800"/>
            <a:ext cx="502920" cy="502920"/>
          </a:xfrm>
          <a:prstGeom prst="ellipse">
            <a:avLst/>
          </a:prstGeom>
          <a:solidFill>
            <a:srgbClr val="1E2761"/>
          </a:solidFill>
          <a:ln/>
        </p:spPr>
      </p:sp>
      <p:sp>
        <p:nvSpPr>
          <p:cNvPr id="6" name="Text 6"/>
          <p:cNvSpPr/>
          <p:nvPr/>
        </p:nvSpPr>
        <p:spPr>
          <a:xfrm>
            <a:off x="82296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7" name="Text 7"/>
          <p:cNvSpPr/>
          <p:nvPr/>
        </p:nvSpPr>
        <p:spPr>
          <a:xfrm>
            <a:off x="146304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IPC Demonstrator</a:t>
            </a:r>
            <a:endParaRPr lang="en-US" sz="1500" dirty="0"/>
          </a:p>
        </p:txBody>
      </p:sp>
      <p:sp>
        <p:nvSpPr>
          <p:cNvPr id="8" name="Text 8"/>
          <p:cNvSpPr/>
          <p:nvPr/>
        </p:nvSpPr>
        <p:spPr>
          <a:xfrm>
            <a:off x="82296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Explore the four classic IPC mechanisms — Pipe, FIFO, Shared Memory and Message Queue — and how processes exchange data.</a:t>
            </a:r>
            <a:endParaRPr lang="en-US" sz="1250" dirty="0"/>
          </a:p>
        </p:txBody>
      </p:sp>
      <p:sp>
        <p:nvSpPr>
          <p:cNvPr id="9" name="Shape 9"/>
          <p:cNvSpPr/>
          <p:nvPr/>
        </p:nvSpPr>
        <p:spPr>
          <a:xfrm>
            <a:off x="777240" y="3749040"/>
            <a:ext cx="3063240" cy="1143000"/>
          </a:xfrm>
          <a:prstGeom prst="roundRect">
            <a:avLst>
              <a:gd name="adj" fmla="val 8000"/>
            </a:avLst>
          </a:prstGeom>
          <a:solidFill>
            <a:srgbClr val="1E2761"/>
          </a:solidFill>
          <a:ln/>
        </p:spPr>
      </p:sp>
      <p:sp>
        <p:nvSpPr>
          <p:cNvPr id="10" name="Text 10"/>
          <p:cNvSpPr/>
          <p:nvPr/>
        </p:nvSpPr>
        <p:spPr>
          <a:xfrm>
            <a:off x="77724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pipe() / mkfifo()</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shmget() / shmat()</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msgget() / msgsnd() / msgrcv()</a:t>
            </a:r>
            <a:endParaRPr lang="en-US" sz="1250" dirty="0"/>
          </a:p>
        </p:txBody>
      </p:sp>
      <p:sp>
        <p:nvSpPr>
          <p:cNvPr id="11" name="Shape 11"/>
          <p:cNvSpPr/>
          <p:nvPr/>
        </p:nvSpPr>
        <p:spPr>
          <a:xfrm>
            <a:off x="4343400" y="1600200"/>
            <a:ext cx="3520440" cy="3474720"/>
          </a:xfrm>
          <a:prstGeom prst="roundRect">
            <a:avLst>
              <a:gd name="adj" fmla="val 3529"/>
            </a:avLst>
          </a:prstGeom>
          <a:solidFill>
            <a:srgbClr val="F3F6FC"/>
          </a:solidFill>
          <a:ln/>
        </p:spPr>
      </p:sp>
      <p:sp>
        <p:nvSpPr>
          <p:cNvPr id="12" name="Shape 12"/>
          <p:cNvSpPr/>
          <p:nvPr/>
        </p:nvSpPr>
        <p:spPr>
          <a:xfrm>
            <a:off x="4617720" y="1828800"/>
            <a:ext cx="502920" cy="502920"/>
          </a:xfrm>
          <a:prstGeom prst="ellipse">
            <a:avLst/>
          </a:prstGeom>
          <a:solidFill>
            <a:srgbClr val="1E2761"/>
          </a:solidFill>
          <a:ln/>
        </p:spPr>
      </p:sp>
      <p:sp>
        <p:nvSpPr>
          <p:cNvPr id="13" name="Text 13"/>
          <p:cNvSpPr/>
          <p:nvPr/>
        </p:nvSpPr>
        <p:spPr>
          <a:xfrm>
            <a:off x="461772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4" name="Text 14"/>
          <p:cNvSpPr/>
          <p:nvPr/>
        </p:nvSpPr>
        <p:spPr>
          <a:xfrm>
            <a:off x="525780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File Analyzer</a:t>
            </a:r>
            <a:endParaRPr lang="en-US" sz="1500" dirty="0"/>
          </a:p>
        </p:txBody>
      </p:sp>
      <p:sp>
        <p:nvSpPr>
          <p:cNvPr id="15" name="Text 15"/>
          <p:cNvSpPr/>
          <p:nvPr/>
        </p:nvSpPr>
        <p:spPr>
          <a:xfrm>
            <a:off x="461772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Analyze files using concurrent processing, dividing the work so several parts of a file are examined at the same time.</a:t>
            </a:r>
            <a:endParaRPr lang="en-US" sz="1250" dirty="0"/>
          </a:p>
        </p:txBody>
      </p:sp>
      <p:sp>
        <p:nvSpPr>
          <p:cNvPr id="16" name="Shape 16"/>
          <p:cNvSpPr/>
          <p:nvPr/>
        </p:nvSpPr>
        <p:spPr>
          <a:xfrm>
            <a:off x="4572000" y="3749040"/>
            <a:ext cx="3063240" cy="1143000"/>
          </a:xfrm>
          <a:prstGeom prst="roundRect">
            <a:avLst>
              <a:gd name="adj" fmla="val 8000"/>
            </a:avLst>
          </a:prstGeom>
          <a:solidFill>
            <a:srgbClr val="1E2761"/>
          </a:solidFill>
          <a:ln/>
        </p:spPr>
      </p:sp>
      <p:sp>
        <p:nvSpPr>
          <p:cNvPr id="17" name="Text 17"/>
          <p:cNvSpPr/>
          <p:nvPr/>
        </p:nvSpPr>
        <p:spPr>
          <a:xfrm>
            <a:off x="457200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open() / read() / close()</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stat()</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pthread_create() / pthread_join()</a:t>
            </a:r>
            <a:endParaRPr lang="en-US" sz="1250" dirty="0"/>
          </a:p>
        </p:txBody>
      </p:sp>
      <p:sp>
        <p:nvSpPr>
          <p:cNvPr id="18" name="Shape 18"/>
          <p:cNvSpPr/>
          <p:nvPr/>
        </p:nvSpPr>
        <p:spPr>
          <a:xfrm>
            <a:off x="8138160" y="1600200"/>
            <a:ext cx="3520440" cy="3474720"/>
          </a:xfrm>
          <a:prstGeom prst="roundRect">
            <a:avLst>
              <a:gd name="adj" fmla="val 3529"/>
            </a:avLst>
          </a:prstGeom>
          <a:solidFill>
            <a:srgbClr val="F3F6FC"/>
          </a:solidFill>
          <a:ln/>
        </p:spPr>
      </p:sp>
      <p:sp>
        <p:nvSpPr>
          <p:cNvPr id="19" name="Shape 19"/>
          <p:cNvSpPr/>
          <p:nvPr/>
        </p:nvSpPr>
        <p:spPr>
          <a:xfrm>
            <a:off x="8412480" y="1828800"/>
            <a:ext cx="502920" cy="502920"/>
          </a:xfrm>
          <a:prstGeom prst="ellipse">
            <a:avLst/>
          </a:prstGeom>
          <a:solidFill>
            <a:srgbClr val="1E2761"/>
          </a:solidFill>
          <a:ln/>
        </p:spPr>
      </p:sp>
      <p:sp>
        <p:nvSpPr>
          <p:cNvPr id="20" name="Text 20"/>
          <p:cNvSpPr/>
          <p:nvPr/>
        </p:nvSpPr>
        <p:spPr>
          <a:xfrm>
            <a:off x="841248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1" name="Text 21"/>
          <p:cNvSpPr/>
          <p:nvPr/>
        </p:nvSpPr>
        <p:spPr>
          <a:xfrm>
            <a:off x="9052560" y="1828800"/>
            <a:ext cx="2331720"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System Call Trace</a:t>
            </a:r>
            <a:endParaRPr lang="en-US" sz="1500" dirty="0"/>
          </a:p>
        </p:txBody>
      </p:sp>
      <p:sp>
        <p:nvSpPr>
          <p:cNvPr id="22" name="Text 22"/>
          <p:cNvSpPr/>
          <p:nvPr/>
        </p:nvSpPr>
        <p:spPr>
          <a:xfrm>
            <a:off x="8412480" y="2468880"/>
            <a:ext cx="2971800" cy="1188720"/>
          </a:xfrm>
          <a:prstGeom prst="rect">
            <a:avLst/>
          </a:prstGeom>
          <a:noFill/>
          <a:ln/>
        </p:spPr>
        <p:txBody>
          <a:bodyPr wrap="square" rtlCol="0" anchor="t"/>
          <a:lstStyle/>
          <a:p>
            <a:pPr marL="0" indent="0">
              <a:lnSpc>
                <a:spcPct val="125000"/>
              </a:lnSpc>
              <a:buNone/>
            </a:pPr>
            <a:r>
              <a:rPr lang="en-US" sz="1250" dirty="0">
                <a:solidFill>
                  <a:srgbClr val="1B1F3B"/>
                </a:solidFill>
                <a:latin typeface="Calibri" pitchFamily="34" charset="0"/>
                <a:ea typeface="Calibri" pitchFamily="34" charset="-122"/>
                <a:cs typeface="Calibri" pitchFamily="34" charset="-120"/>
              </a:rPr>
              <a:t>Observe the Linux system calls a program makes using system-call tracing, revealing every request sent to the kernel.</a:t>
            </a:r>
            <a:endParaRPr lang="en-US" sz="1250" dirty="0"/>
          </a:p>
        </p:txBody>
      </p:sp>
      <p:sp>
        <p:nvSpPr>
          <p:cNvPr id="23" name="Shape 23"/>
          <p:cNvSpPr/>
          <p:nvPr/>
        </p:nvSpPr>
        <p:spPr>
          <a:xfrm>
            <a:off x="8366760" y="3749040"/>
            <a:ext cx="3063240" cy="1143000"/>
          </a:xfrm>
          <a:prstGeom prst="roundRect">
            <a:avLst>
              <a:gd name="adj" fmla="val 8000"/>
            </a:avLst>
          </a:prstGeom>
          <a:solidFill>
            <a:srgbClr val="1E2761"/>
          </a:solidFill>
          <a:ln/>
        </p:spPr>
      </p:sp>
      <p:sp>
        <p:nvSpPr>
          <p:cNvPr id="24" name="Text 24"/>
          <p:cNvSpPr/>
          <p:nvPr/>
        </p:nvSpPr>
        <p:spPr>
          <a:xfrm>
            <a:off x="8366760" y="3749040"/>
            <a:ext cx="3063240" cy="1143000"/>
          </a:xfrm>
          <a:prstGeom prst="rect">
            <a:avLst/>
          </a:prstGeom>
          <a:noFill/>
          <a:ln/>
        </p:spPr>
        <p:txBody>
          <a:bodyPr wrap="square" lIns="182880" tIns="45720" rIns="91440" bIns="4572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SYSTEM CALLS</a:t>
            </a:r>
            <a:endParaRPr lang="en-US" sz="100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strace / ptrace()</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execve()</a:t>
            </a:r>
            <a:endParaRPr lang="en-US" sz="1250" dirty="0"/>
          </a:p>
          <a:p>
            <a:pPr marL="0" indent="0">
              <a:spcBef>
                <a:spcPts val="400"/>
              </a:spcBef>
              <a:buNone/>
            </a:pPr>
            <a:r>
              <a:rPr lang="en-US" sz="1250" dirty="0">
                <a:solidFill>
                  <a:srgbClr val="FFFFFF"/>
                </a:solidFill>
                <a:latin typeface="Calibri" pitchFamily="34" charset="0"/>
                <a:ea typeface="Calibri" pitchFamily="34" charset="-122"/>
                <a:cs typeface="Calibri" pitchFamily="34" charset="-120"/>
              </a:rPr>
              <a:t>open() / read() / write()</a:t>
            </a:r>
            <a:endParaRPr lang="en-US" sz="1250" dirty="0"/>
          </a:p>
        </p:txBody>
      </p:sp>
      <p:sp>
        <p:nvSpPr>
          <p:cNvPr id="25" name="Shape 25"/>
          <p:cNvSpPr/>
          <p:nvPr/>
        </p:nvSpPr>
        <p:spPr>
          <a:xfrm>
            <a:off x="548640" y="5303520"/>
            <a:ext cx="11064240" cy="685800"/>
          </a:xfrm>
          <a:prstGeom prst="roundRect">
            <a:avLst>
              <a:gd name="adj" fmla="val 10526"/>
            </a:avLst>
          </a:prstGeom>
          <a:solidFill>
            <a:srgbClr val="1E2761"/>
          </a:solidFill>
          <a:ln/>
        </p:spPr>
      </p:sp>
      <p:sp>
        <p:nvSpPr>
          <p:cNvPr id="26" name="Text 26"/>
          <p:cNvSpPr/>
          <p:nvPr/>
        </p:nvSpPr>
        <p:spPr>
          <a:xfrm>
            <a:off x="822960" y="5303520"/>
            <a:ext cx="10515600" cy="68580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Modules 4–6 show how programs communicate, run concurrently, and expose the system calls behind it all.</a:t>
            </a:r>
            <a:endParaRPr lang="en-US" sz="1350" dirty="0"/>
          </a:p>
        </p:txBody>
      </p:sp>
      <p:sp>
        <p:nvSpPr>
          <p:cNvPr id="27" name="Text 27"/>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5B6485"/>
                </a:solidFill>
                <a:latin typeface="Calibri" pitchFamily="34" charset="0"/>
                <a:ea typeface="Calibri" pitchFamily="34" charset="-122"/>
                <a:cs typeface="Calibri" pitchFamily="34" charset="-120"/>
              </a:rPr>
              <a:t>Linux System Explorer</a:t>
            </a:r>
            <a:endParaRPr lang="en-US" sz="1000" dirty="0"/>
          </a:p>
        </p:txBody>
      </p:sp>
      <p:sp>
        <p:nvSpPr>
          <p:cNvPr id="28" name="Text 28"/>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5B64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763</Words>
  <Application>Microsoft Office PowerPoint</Application>
  <PresentationFormat>Widescreen</PresentationFormat>
  <Paragraphs>141</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Sanju</cp:lastModifiedBy>
  <cp:revision>3</cp:revision>
  <dcterms:created xsi:type="dcterms:W3CDTF">2026-09-01T03:09:01Z</dcterms:created>
  <dcterms:modified xsi:type="dcterms:W3CDTF">2026-09-29T03:10:22Z</dcterms:modified>
</cp:coreProperties>
</file>