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3C070B9-CFEB-D2D8-B834-6EA89AB4C7FC}">
          <p14:sldIdLst>
            <p14:sldId id="256"/>
          </p14:sldIdLst>
        </p14:section>
        <p14:section name="Problem &amp; Background" id="{3F72F619-177D-E563-D63E-887A7F92EA28}">
          <p14:sldIdLst>
            <p14:sldId id="257"/>
            <p14:sldId id="258"/>
            <p14:sldId id="259"/>
          </p14:sldIdLst>
        </p14:section>
        <p14:section name="Solution" id="{8246E422-C6FE-3F69-A488-25058F350B5B}">
          <p14:sldIdLst>
            <p14:sldId id="260"/>
            <p14:sldId id="261"/>
          </p14:sldIdLst>
        </p14:section>
        <p14:section name="Plan &amp; Wrap-up" id="{656F481A-0313-925E-E3F9-D65C9D7EFC6D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51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4937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tx2"/>
                </a:solidFill>
              </a:rPr>
              <a:t>SMART PAGE REPLACEMENT ALGORITHM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HACKATHON PROJECT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972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Smart Page Replacement Algorithm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An adaptive strategy to reduce page faults and compare performance with FIFO and LRU</a:t>
            </a:r>
            <a:endParaRPr lang="en-US" sz="1600" dirty="0"/>
          </a:p>
        </p:txBody>
      </p:sp>
      <p:sp>
        <p:nvSpPr>
          <p:cNvPr id="5" name="Team details"/>
          <p:cNvSpPr txBox="1"/>
          <p:nvPr/>
        </p:nvSpPr>
        <p:spPr>
          <a:xfrm>
            <a:off x="283464" y="3980622"/>
            <a:ext cx="4937760" cy="1020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Team Members: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 err="1">
                <a:solidFill>
                  <a:schemeClr val="bg1"/>
                </a:solidFill>
              </a:rPr>
              <a:t>M.Bhavya</a:t>
            </a:r>
            <a:r>
              <a:rPr lang="en-US" sz="1400" dirty="0">
                <a:solidFill>
                  <a:schemeClr val="bg1"/>
                </a:solidFill>
              </a:rPr>
              <a:t> – 2520030005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 err="1">
                <a:solidFill>
                  <a:schemeClr val="bg1"/>
                </a:solidFill>
              </a:rPr>
              <a:t>G.Keerthi</a:t>
            </a:r>
            <a:r>
              <a:rPr lang="en-US" sz="1400" dirty="0">
                <a:solidFill>
                  <a:schemeClr val="bg1"/>
                </a:solidFill>
              </a:rPr>
              <a:t> – 2520030092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 err="1">
                <a:solidFill>
                  <a:schemeClr val="bg1"/>
                </a:solidFill>
              </a:rPr>
              <a:t>K.Sanjana</a:t>
            </a:r>
            <a:r>
              <a:rPr lang="en-US" sz="1400" dirty="0">
                <a:solidFill>
                  <a:schemeClr val="bg1"/>
                </a:solidFill>
              </a:rPr>
              <a:t> -- 2520030229</a:t>
            </a:r>
            <a:endParaRPr lang="en-US" sz="1400" dirty="0"/>
          </a:p>
        </p:txBody>
      </p:sp>
      <p:sp>
        <p:nvSpPr>
          <p:cNvPr id="7" name="Memory frame 1"/>
          <p:cNvSpPr/>
          <p:nvPr/>
        </p:nvSpPr>
        <p:spPr>
          <a:xfrm>
            <a:off x="6035040" y="1097280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emory frame 2"/>
          <p:cNvSpPr/>
          <p:nvPr/>
        </p:nvSpPr>
        <p:spPr>
          <a:xfrm>
            <a:off x="6894576" y="1097280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emory frame 3"/>
          <p:cNvSpPr/>
          <p:nvPr/>
        </p:nvSpPr>
        <p:spPr>
          <a:xfrm>
            <a:off x="7754112" y="1097280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Memory frame 4"/>
          <p:cNvSpPr/>
          <p:nvPr/>
        </p:nvSpPr>
        <p:spPr>
          <a:xfrm>
            <a:off x="6035040" y="1956816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Memory frame 5"/>
          <p:cNvSpPr/>
          <p:nvPr/>
        </p:nvSpPr>
        <p:spPr>
          <a:xfrm>
            <a:off x="6894576" y="1956816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Memory frame 6"/>
          <p:cNvSpPr/>
          <p:nvPr/>
        </p:nvSpPr>
        <p:spPr>
          <a:xfrm>
            <a:off x="7754112" y="1956816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Memory frame 7"/>
          <p:cNvSpPr/>
          <p:nvPr/>
        </p:nvSpPr>
        <p:spPr>
          <a:xfrm>
            <a:off x="6035040" y="2816352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Memory frame 8"/>
          <p:cNvSpPr/>
          <p:nvPr/>
        </p:nvSpPr>
        <p:spPr>
          <a:xfrm>
            <a:off x="6894576" y="2816352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Memory frame 9"/>
          <p:cNvSpPr/>
          <p:nvPr/>
        </p:nvSpPr>
        <p:spPr>
          <a:xfrm>
            <a:off x="7754112" y="2816352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Memory frame 10"/>
          <p:cNvSpPr/>
          <p:nvPr/>
        </p:nvSpPr>
        <p:spPr>
          <a:xfrm>
            <a:off x="6035040" y="3675888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Memory frame 11"/>
          <p:cNvSpPr/>
          <p:nvPr/>
        </p:nvSpPr>
        <p:spPr>
          <a:xfrm>
            <a:off x="6894576" y="3675888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Memory frame 12"/>
          <p:cNvSpPr/>
          <p:nvPr/>
        </p:nvSpPr>
        <p:spPr>
          <a:xfrm>
            <a:off x="7754112" y="3675888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1. Abstract</a:t>
            </a:r>
            <a:endParaRPr lang="en-US" sz="3200" dirty="0"/>
          </a:p>
        </p:txBody>
      </p:sp>
      <p:sp>
        <p:nvSpPr>
          <p:cNvPr id="3" name="Lead statement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Page replacement is an important operating-system technique used when physical memory is full.</a:t>
            </a:r>
            <a:endParaRPr lang="en-US" sz="1600" dirty="0"/>
          </a:p>
        </p:txBody>
      </p:sp>
      <p:sp>
        <p:nvSpPr>
          <p:cNvPr id="4" name="Abstract bullets"/>
          <p:cNvSpPr txBox="1"/>
          <p:nvPr/>
        </p:nvSpPr>
        <p:spPr>
          <a:xfrm>
            <a:off x="457200" y="16916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This project proposes an adaptive page replacement strategy called Smart Adaptive Page Replacement (SAPR).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considers recent use, access frequency, and an estimate of future reuse before selecting a victim page.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FIFO and LRU are implemented as baseline algorithms for comparison.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Performance is evaluated using page-fault count and hit ratio on the same page-reference string.</a:t>
            </a:r>
            <a:endParaRPr lang="en-US" sz="1400" dirty="0"/>
          </a:p>
        </p:txBody>
      </p:sp>
      <p:sp>
        <p:nvSpPr>
          <p:cNvPr id="5" name="Summary card Goal"/>
          <p:cNvSpPr/>
          <p:nvPr/>
        </p:nvSpPr>
        <p:spPr>
          <a:xfrm>
            <a:off x="457200" y="3611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6" name="Summary card Goal marker"/>
          <p:cNvSpPr/>
          <p:nvPr/>
        </p:nvSpPr>
        <p:spPr>
          <a:xfrm>
            <a:off x="621792" y="379476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ummary card Goal heading"/>
          <p:cNvSpPr txBox="1"/>
          <p:nvPr/>
        </p:nvSpPr>
        <p:spPr>
          <a:xfrm>
            <a:off x="868680" y="3703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Goal</a:t>
            </a:r>
            <a:endParaRPr lang="en-US" sz="1400" dirty="0"/>
          </a:p>
        </p:txBody>
      </p:sp>
      <p:sp>
        <p:nvSpPr>
          <p:cNvPr id="8" name="Summary card Goal text"/>
          <p:cNvSpPr txBox="1"/>
          <p:nvPr/>
        </p:nvSpPr>
        <p:spPr>
          <a:xfrm>
            <a:off x="621792" y="4069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Reduce avoidable page faults.</a:t>
            </a:r>
            <a:endParaRPr lang="en-US" sz="1400" dirty="0"/>
          </a:p>
        </p:txBody>
      </p:sp>
      <p:sp>
        <p:nvSpPr>
          <p:cNvPr id="9" name="Summary card Method"/>
          <p:cNvSpPr/>
          <p:nvPr/>
        </p:nvSpPr>
        <p:spPr>
          <a:xfrm>
            <a:off x="3246120" y="3611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10" name="Summary card Method marker"/>
          <p:cNvSpPr/>
          <p:nvPr/>
        </p:nvSpPr>
        <p:spPr>
          <a:xfrm>
            <a:off x="3410712" y="3794760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ummary card Method heading"/>
          <p:cNvSpPr txBox="1"/>
          <p:nvPr/>
        </p:nvSpPr>
        <p:spPr>
          <a:xfrm>
            <a:off x="3657600" y="3703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Method</a:t>
            </a:r>
            <a:endParaRPr lang="en-US" sz="1400" dirty="0"/>
          </a:p>
        </p:txBody>
      </p:sp>
      <p:sp>
        <p:nvSpPr>
          <p:cNvPr id="12" name="Summary card Method text"/>
          <p:cNvSpPr txBox="1"/>
          <p:nvPr/>
        </p:nvSpPr>
        <p:spPr>
          <a:xfrm>
            <a:off x="3410712" y="4069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Simulate identical workloads.</a:t>
            </a:r>
            <a:endParaRPr lang="en-US" sz="1400" dirty="0"/>
          </a:p>
        </p:txBody>
      </p:sp>
      <p:sp>
        <p:nvSpPr>
          <p:cNvPr id="13" name="Summary card Output"/>
          <p:cNvSpPr/>
          <p:nvPr/>
        </p:nvSpPr>
        <p:spPr>
          <a:xfrm>
            <a:off x="6035040" y="361188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14" name="Summary card Output marker"/>
          <p:cNvSpPr/>
          <p:nvPr/>
        </p:nvSpPr>
        <p:spPr>
          <a:xfrm>
            <a:off x="6199632" y="3794760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Summary card Output heading"/>
          <p:cNvSpPr txBox="1"/>
          <p:nvPr/>
        </p:nvSpPr>
        <p:spPr>
          <a:xfrm>
            <a:off x="6446520" y="3703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Output</a:t>
            </a:r>
            <a:endParaRPr lang="en-US" sz="1400" dirty="0"/>
          </a:p>
        </p:txBody>
      </p:sp>
      <p:sp>
        <p:nvSpPr>
          <p:cNvPr id="16" name="Summary card Output text"/>
          <p:cNvSpPr txBox="1"/>
          <p:nvPr/>
        </p:nvSpPr>
        <p:spPr>
          <a:xfrm>
            <a:off x="6199632" y="406908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faults and hit ratio.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2. Introduction</a:t>
            </a:r>
            <a:endParaRPr lang="en-US" sz="3200" dirty="0"/>
          </a:p>
        </p:txBody>
      </p:sp>
      <p:sp>
        <p:nvSpPr>
          <p:cNvPr id="3" name="Concept card 1"/>
          <p:cNvSpPr/>
          <p:nvPr/>
        </p:nvSpPr>
        <p:spPr>
          <a:xfrm>
            <a:off x="457200" y="10972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4" name="Concept card 1 marker"/>
          <p:cNvSpPr/>
          <p:nvPr/>
        </p:nvSpPr>
        <p:spPr>
          <a:xfrm>
            <a:off x="621792" y="128016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oncept card 1 heading"/>
          <p:cNvSpPr txBox="1"/>
          <p:nvPr/>
        </p:nvSpPr>
        <p:spPr>
          <a:xfrm>
            <a:off x="868680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is a page?</a:t>
            </a:r>
            <a:endParaRPr lang="en-US" sz="1400" dirty="0"/>
          </a:p>
        </p:txBody>
      </p:sp>
      <p:sp>
        <p:nvSpPr>
          <p:cNvPr id="6" name="Concept card 1 text"/>
          <p:cNvSpPr txBox="1"/>
          <p:nvPr/>
        </p:nvSpPr>
        <p:spPr>
          <a:xfrm>
            <a:off x="621792" y="155448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fixed-size block of a process's virtual memory.</a:t>
            </a:r>
            <a:endParaRPr lang="en-US" sz="1400" dirty="0"/>
          </a:p>
        </p:txBody>
      </p:sp>
      <p:sp>
        <p:nvSpPr>
          <p:cNvPr id="7" name="Concept card 2"/>
          <p:cNvSpPr/>
          <p:nvPr/>
        </p:nvSpPr>
        <p:spPr>
          <a:xfrm>
            <a:off x="3246120" y="10972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8" name="Concept card 2 marker"/>
          <p:cNvSpPr/>
          <p:nvPr/>
        </p:nvSpPr>
        <p:spPr>
          <a:xfrm>
            <a:off x="3410712" y="1280160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Concept card 2 heading"/>
          <p:cNvSpPr txBox="1"/>
          <p:nvPr/>
        </p:nvSpPr>
        <p:spPr>
          <a:xfrm>
            <a:off x="3657600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What is a page fault?</a:t>
            </a:r>
            <a:endParaRPr lang="en-US" sz="1400" dirty="0"/>
          </a:p>
        </p:txBody>
      </p:sp>
      <p:sp>
        <p:nvSpPr>
          <p:cNvPr id="10" name="Concept card 2 text"/>
          <p:cNvSpPr txBox="1"/>
          <p:nvPr/>
        </p:nvSpPr>
        <p:spPr>
          <a:xfrm>
            <a:off x="3410712" y="155448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It occurs when a requested page is not currently in RAM.</a:t>
            </a:r>
            <a:endParaRPr lang="en-US" sz="1400" dirty="0"/>
          </a:p>
        </p:txBody>
      </p:sp>
      <p:sp>
        <p:nvSpPr>
          <p:cNvPr id="11" name="Concept card 3"/>
          <p:cNvSpPr/>
          <p:nvPr/>
        </p:nvSpPr>
        <p:spPr>
          <a:xfrm>
            <a:off x="6035040" y="109728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12" name="Concept card 3 marker"/>
          <p:cNvSpPr/>
          <p:nvPr/>
        </p:nvSpPr>
        <p:spPr>
          <a:xfrm>
            <a:off x="6199632" y="1280160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Concept card 3 heading"/>
          <p:cNvSpPr txBox="1"/>
          <p:nvPr/>
        </p:nvSpPr>
        <p:spPr>
          <a:xfrm>
            <a:off x="6446520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replacement?</a:t>
            </a:r>
            <a:endParaRPr lang="en-US" sz="1400" dirty="0"/>
          </a:p>
        </p:txBody>
      </p:sp>
      <p:sp>
        <p:nvSpPr>
          <p:cNvPr id="14" name="Concept card 3 text"/>
          <p:cNvSpPr txBox="1"/>
          <p:nvPr/>
        </p:nvSpPr>
        <p:spPr>
          <a:xfrm>
            <a:off x="6199632" y="155448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If RAM has no free frame, the OS must choose a page to remove.</a:t>
            </a:r>
            <a:endParaRPr lang="en-US" sz="1400" dirty="0"/>
          </a:p>
        </p:txBody>
      </p:sp>
      <p:sp>
        <p:nvSpPr>
          <p:cNvPr id="15" name="Section heading"/>
          <p:cNvSpPr txBox="1"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Project objectives</a:t>
            </a:r>
            <a:endParaRPr lang="en-US" sz="1800" dirty="0"/>
          </a:p>
        </p:txBody>
      </p:sp>
      <p:sp>
        <p:nvSpPr>
          <p:cNvPr id="16" name="Objectives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 a simple, adaptive victim-selection policy.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Implement FIFO, LRU, and SAPR under the same conditions.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Measure page faults and hit ratio for different reference strings.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Identify workloads where each strategy performs well or poorly.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3. Existing System</a:t>
            </a:r>
            <a:endParaRPr lang="en-US" sz="3200" dirty="0"/>
          </a:p>
        </p:txBody>
      </p:sp>
      <p:sp>
        <p:nvSpPr>
          <p:cNvPr id="3" name="FIFO card"/>
          <p:cNvSpPr/>
          <p:nvPr/>
        </p:nvSpPr>
        <p:spPr>
          <a:xfrm>
            <a:off x="457200" y="109728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4" name="FIFO card heading"/>
          <p:cNvSpPr txBox="1"/>
          <p:nvPr/>
        </p:nvSpPr>
        <p:spPr>
          <a:xfrm>
            <a:off x="64008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FIFO — First In, First Out</a:t>
            </a:r>
            <a:endParaRPr lang="en-US" sz="1600" dirty="0"/>
          </a:p>
        </p:txBody>
      </p:sp>
      <p:sp>
        <p:nvSpPr>
          <p:cNvPr id="5" name="FIFO card bullets"/>
          <p:cNvSpPr txBox="1"/>
          <p:nvPr/>
        </p:nvSpPr>
        <p:spPr>
          <a:xfrm>
            <a:off x="640080" y="1572768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Removes the page that entered memory earliest.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Simple and low overhead.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May remove a frequently used page; can show Belady's anomaly.</a:t>
            </a:r>
            <a:endParaRPr lang="en-US" sz="1400" dirty="0"/>
          </a:p>
        </p:txBody>
      </p:sp>
      <p:sp>
        <p:nvSpPr>
          <p:cNvPr id="6" name="LRU card"/>
          <p:cNvSpPr/>
          <p:nvPr/>
        </p:nvSpPr>
        <p:spPr>
          <a:xfrm>
            <a:off x="4663440" y="109728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7" name="LRU card heading"/>
          <p:cNvSpPr txBox="1"/>
          <p:nvPr/>
        </p:nvSpPr>
        <p:spPr>
          <a:xfrm>
            <a:off x="484632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LRU — Least Recently Used</a:t>
            </a:r>
            <a:endParaRPr lang="en-US" sz="1600" dirty="0"/>
          </a:p>
        </p:txBody>
      </p:sp>
      <p:sp>
        <p:nvSpPr>
          <p:cNvPr id="8" name="LRU card bullets"/>
          <p:cNvSpPr txBox="1"/>
          <p:nvPr/>
        </p:nvSpPr>
        <p:spPr>
          <a:xfrm>
            <a:off x="4846320" y="1572768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Removes the page not used for the longest time.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Uses recent access history.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Tracking usage can add overhead; past use may not predict future use.</a:t>
            </a:r>
            <a:endParaRPr lang="en-US" sz="1400" dirty="0"/>
          </a:p>
        </p:txBody>
      </p:sp>
      <p:sp>
        <p:nvSpPr>
          <p:cNvPr id="9" name="Section heading"/>
          <p:cNvSpPr txBox="1"/>
          <p:nvPr/>
        </p:nvSpPr>
        <p:spPr>
          <a:xfrm>
            <a:off x="457200" y="3154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Limitations of standard methods</a:t>
            </a:r>
            <a:endParaRPr lang="en-US" sz="1800" dirty="0"/>
          </a:p>
        </p:txBody>
      </p:sp>
      <p:sp>
        <p:nvSpPr>
          <p:cNvPr id="10" name="Limitations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FIFO ignores how often a page is accessed.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LRU focuses on the past and may miss changing access patterns.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Neither policy directly combines recency, frequency, and estimated reuse.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4. Proposed System — SAPR</a:t>
            </a:r>
            <a:endParaRPr lang="en-US" sz="3200" dirty="0"/>
          </a:p>
        </p:txBody>
      </p:sp>
      <p:sp>
        <p:nvSpPr>
          <p:cNvPr id="3" name="SAPR intro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Smart Adaptive Page Replacement (SAPR)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 each page in memory, maintain lightweight usage information:</a:t>
            </a:r>
            <a:endParaRPr lang="en-US" sz="1400" dirty="0"/>
          </a:p>
        </p:txBody>
      </p:sp>
      <p:sp>
        <p:nvSpPr>
          <p:cNvPr id="4" name="Signal card Recency"/>
          <p:cNvSpPr/>
          <p:nvPr/>
        </p:nvSpPr>
        <p:spPr>
          <a:xfrm>
            <a:off x="457200" y="1645920"/>
            <a:ext cx="19659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5" name="Signal card Recency marker"/>
          <p:cNvSpPr/>
          <p:nvPr/>
        </p:nvSpPr>
        <p:spPr>
          <a:xfrm>
            <a:off x="621792" y="182880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ignal card Recency heading"/>
          <p:cNvSpPr txBox="1"/>
          <p:nvPr/>
        </p:nvSpPr>
        <p:spPr>
          <a:xfrm>
            <a:off x="868680" y="17373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Recency</a:t>
            </a:r>
            <a:endParaRPr lang="en-US" sz="1400" dirty="0"/>
          </a:p>
        </p:txBody>
      </p:sp>
      <p:sp>
        <p:nvSpPr>
          <p:cNvPr id="7" name="Signal card Recency text"/>
          <p:cNvSpPr txBox="1"/>
          <p:nvPr/>
        </p:nvSpPr>
        <p:spPr>
          <a:xfrm>
            <a:off x="621792" y="21031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recently was it used?</a:t>
            </a:r>
            <a:endParaRPr lang="en-US" sz="1400" dirty="0"/>
          </a:p>
        </p:txBody>
      </p:sp>
      <p:sp>
        <p:nvSpPr>
          <p:cNvPr id="8" name="Signal card Frequency"/>
          <p:cNvSpPr/>
          <p:nvPr/>
        </p:nvSpPr>
        <p:spPr>
          <a:xfrm>
            <a:off x="2542032" y="1645920"/>
            <a:ext cx="19659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9" name="Signal card Frequency marker"/>
          <p:cNvSpPr/>
          <p:nvPr/>
        </p:nvSpPr>
        <p:spPr>
          <a:xfrm>
            <a:off x="2706624" y="1828800"/>
            <a:ext cx="146304" cy="146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ignal card Frequency heading"/>
          <p:cNvSpPr txBox="1"/>
          <p:nvPr/>
        </p:nvSpPr>
        <p:spPr>
          <a:xfrm>
            <a:off x="2953512" y="17373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Frequency</a:t>
            </a:r>
            <a:endParaRPr lang="en-US" sz="1400" dirty="0"/>
          </a:p>
        </p:txBody>
      </p:sp>
      <p:sp>
        <p:nvSpPr>
          <p:cNvPr id="11" name="Signal card Frequency text"/>
          <p:cNvSpPr txBox="1"/>
          <p:nvPr/>
        </p:nvSpPr>
        <p:spPr>
          <a:xfrm>
            <a:off x="2706624" y="21031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often was it used?</a:t>
            </a:r>
            <a:endParaRPr lang="en-US" sz="1400" dirty="0"/>
          </a:p>
        </p:txBody>
      </p:sp>
      <p:sp>
        <p:nvSpPr>
          <p:cNvPr id="12" name="Signal card Reuse estimate"/>
          <p:cNvSpPr/>
          <p:nvPr/>
        </p:nvSpPr>
        <p:spPr>
          <a:xfrm>
            <a:off x="4626864" y="1645920"/>
            <a:ext cx="19659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13" name="Signal card Reuse estimate marker"/>
          <p:cNvSpPr/>
          <p:nvPr/>
        </p:nvSpPr>
        <p:spPr>
          <a:xfrm>
            <a:off x="4791456" y="1828800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Signal card Reuse estimate heading"/>
          <p:cNvSpPr txBox="1"/>
          <p:nvPr/>
        </p:nvSpPr>
        <p:spPr>
          <a:xfrm>
            <a:off x="5038344" y="17373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Reuse estimate</a:t>
            </a:r>
            <a:endParaRPr lang="en-US" sz="1400" dirty="0"/>
          </a:p>
        </p:txBody>
      </p:sp>
      <p:sp>
        <p:nvSpPr>
          <p:cNvPr id="15" name="Signal card Reuse estimate text"/>
          <p:cNvSpPr txBox="1"/>
          <p:nvPr/>
        </p:nvSpPr>
        <p:spPr>
          <a:xfrm>
            <a:off x="4791456" y="21031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 it likely to be needed soon?</a:t>
            </a:r>
            <a:endParaRPr lang="en-US" sz="1400" dirty="0"/>
          </a:p>
        </p:txBody>
      </p:sp>
      <p:sp>
        <p:nvSpPr>
          <p:cNvPr id="16" name="Signal card Tie-breaker"/>
          <p:cNvSpPr/>
          <p:nvPr/>
        </p:nvSpPr>
        <p:spPr>
          <a:xfrm>
            <a:off x="6711696" y="1645920"/>
            <a:ext cx="19659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17" name="Signal card Tie-breaker marker"/>
          <p:cNvSpPr/>
          <p:nvPr/>
        </p:nvSpPr>
        <p:spPr>
          <a:xfrm>
            <a:off x="6876288" y="1828800"/>
            <a:ext cx="146304" cy="14630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Signal card Tie-breaker heading"/>
          <p:cNvSpPr txBox="1"/>
          <p:nvPr/>
        </p:nvSpPr>
        <p:spPr>
          <a:xfrm>
            <a:off x="7123176" y="17373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Tie-breaker</a:t>
            </a:r>
            <a:endParaRPr lang="en-US" sz="1400" dirty="0"/>
          </a:p>
        </p:txBody>
      </p:sp>
      <p:sp>
        <p:nvSpPr>
          <p:cNvPr id="19" name="Signal card Tie-breaker text"/>
          <p:cNvSpPr txBox="1"/>
          <p:nvPr/>
        </p:nvSpPr>
        <p:spPr>
          <a:xfrm>
            <a:off x="6876288" y="2103120"/>
            <a:ext cx="1636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Prefer clean pages when scores are close.</a:t>
            </a:r>
            <a:endParaRPr lang="en-US" sz="1400" dirty="0"/>
          </a:p>
        </p:txBody>
      </p:sp>
      <p:sp>
        <p:nvSpPr>
          <p:cNvPr id="20" name="Section heading"/>
          <p:cNvSpPr txBox="1"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Victim-selection idea</a:t>
            </a:r>
            <a:endParaRPr lang="en-US" sz="1800" dirty="0"/>
          </a:p>
        </p:txBody>
      </p:sp>
      <p:sp>
        <p:nvSpPr>
          <p:cNvPr id="21" name="Victim selection text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 each resident page's future usefulness. Evict the page with the lowest predicted reuse value; use a clean-page preference only as a tie-breaker.</a:t>
            </a:r>
            <a:endParaRPr lang="en-US" sz="1400" dirty="0"/>
          </a:p>
        </p:txBody>
      </p:sp>
      <p:sp>
        <p:nvSpPr>
          <p:cNvPr id="22" name="Note box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Note text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Note: </a:t>
            </a:r>
            <a:r>
              <a:rPr lang="en-US" sz="1200" dirty="0">
                <a:solidFill>
                  <a:schemeClr val="tx1"/>
                </a:solidFill>
              </a:rPr>
              <a:t>SAPR is a proposed heuristic. Its weights and prediction rule must be tested; it is not guaranteed to beat FIFO or LRU on every workload.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5. Work Flow / Structure</a:t>
            </a:r>
            <a:endParaRPr lang="en-US" sz="3200" dirty="0"/>
          </a:p>
        </p:txBody>
      </p:sp>
      <p:sp>
        <p:nvSpPr>
          <p:cNvPr id="3" name="Flow line"/>
          <p:cNvSpPr/>
          <p:nvPr/>
        </p:nvSpPr>
        <p:spPr>
          <a:xfrm>
            <a:off x="1143000" y="1371600"/>
            <a:ext cx="68580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4" name="Step marker 1"/>
          <p:cNvSpPr/>
          <p:nvPr/>
        </p:nvSpPr>
        <p:spPr>
          <a:xfrm>
            <a:off x="914400" y="11430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9144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title 1"/>
          <p:cNvSpPr txBox="1"/>
          <p:nvPr/>
        </p:nvSpPr>
        <p:spPr>
          <a:xfrm>
            <a:off x="50292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</a:t>
            </a:r>
            <a:endParaRPr lang="en-US" sz="1400" dirty="0"/>
          </a:p>
        </p:txBody>
      </p:sp>
      <p:sp>
        <p:nvSpPr>
          <p:cNvPr id="7" name="Step text 1"/>
          <p:cNvSpPr txBox="1"/>
          <p:nvPr/>
        </p:nvSpPr>
        <p:spPr>
          <a:xfrm>
            <a:off x="50292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Page-reference string and frame count</a:t>
            </a:r>
            <a:endParaRPr lang="en-US" sz="1200" dirty="0"/>
          </a:p>
        </p:txBody>
      </p:sp>
      <p:sp>
        <p:nvSpPr>
          <p:cNvPr id="8" name="Step marker 2"/>
          <p:cNvSpPr/>
          <p:nvPr/>
        </p:nvSpPr>
        <p:spPr>
          <a:xfrm>
            <a:off x="2286000" y="1143000"/>
            <a:ext cx="457200" cy="4572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22860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title 2"/>
          <p:cNvSpPr txBox="1"/>
          <p:nvPr/>
        </p:nvSpPr>
        <p:spPr>
          <a:xfrm>
            <a:off x="187452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Load page</a:t>
            </a:r>
            <a:endParaRPr lang="en-US" sz="1400" dirty="0"/>
          </a:p>
        </p:txBody>
      </p:sp>
      <p:sp>
        <p:nvSpPr>
          <p:cNvPr id="11" name="Step text 2"/>
          <p:cNvSpPr txBox="1"/>
          <p:nvPr/>
        </p:nvSpPr>
        <p:spPr>
          <a:xfrm>
            <a:off x="187452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Check whether the page is in memory</a:t>
            </a:r>
            <a:endParaRPr lang="en-US" sz="1200" dirty="0"/>
          </a:p>
        </p:txBody>
      </p:sp>
      <p:sp>
        <p:nvSpPr>
          <p:cNvPr id="12" name="Step marker 3"/>
          <p:cNvSpPr/>
          <p:nvPr/>
        </p:nvSpPr>
        <p:spPr>
          <a:xfrm>
            <a:off x="3657600" y="1143000"/>
            <a:ext cx="457200" cy="45720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36576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title 3"/>
          <p:cNvSpPr txBox="1"/>
          <p:nvPr/>
        </p:nvSpPr>
        <p:spPr>
          <a:xfrm>
            <a:off x="324612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Hit or fault</a:t>
            </a:r>
            <a:endParaRPr lang="en-US" sz="1400" dirty="0"/>
          </a:p>
        </p:txBody>
      </p:sp>
      <p:sp>
        <p:nvSpPr>
          <p:cNvPr id="15" name="Step text 3"/>
          <p:cNvSpPr txBox="1"/>
          <p:nvPr/>
        </p:nvSpPr>
        <p:spPr>
          <a:xfrm>
            <a:off x="324612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Hit: update statistics. Fault: continue</a:t>
            </a:r>
            <a:endParaRPr lang="en-US" sz="1200" dirty="0"/>
          </a:p>
        </p:txBody>
      </p:sp>
      <p:sp>
        <p:nvSpPr>
          <p:cNvPr id="16" name="Step marker 4"/>
          <p:cNvSpPr/>
          <p:nvPr/>
        </p:nvSpPr>
        <p:spPr>
          <a:xfrm>
            <a:off x="5029200" y="1143000"/>
            <a:ext cx="457200" cy="45720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7" name="Step number 4"/>
          <p:cNvSpPr txBox="1"/>
          <p:nvPr/>
        </p:nvSpPr>
        <p:spPr>
          <a:xfrm>
            <a:off x="5029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title 4"/>
          <p:cNvSpPr txBox="1"/>
          <p:nvPr/>
        </p:nvSpPr>
        <p:spPr>
          <a:xfrm>
            <a:off x="461772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Choose victim</a:t>
            </a:r>
            <a:endParaRPr lang="en-US" sz="1400" dirty="0"/>
          </a:p>
        </p:txBody>
      </p:sp>
      <p:sp>
        <p:nvSpPr>
          <p:cNvPr id="19" name="Step text 4"/>
          <p:cNvSpPr txBox="1"/>
          <p:nvPr/>
        </p:nvSpPr>
        <p:spPr>
          <a:xfrm>
            <a:off x="461772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If full, apply FIFO, LRU, or SAPR</a:t>
            </a:r>
            <a:endParaRPr lang="en-US" sz="1200" dirty="0"/>
          </a:p>
        </p:txBody>
      </p:sp>
      <p:sp>
        <p:nvSpPr>
          <p:cNvPr id="20" name="Step marker 5"/>
          <p:cNvSpPr/>
          <p:nvPr/>
        </p:nvSpPr>
        <p:spPr>
          <a:xfrm>
            <a:off x="6400800" y="114300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1" name="Step number 5"/>
          <p:cNvSpPr txBox="1"/>
          <p:nvPr/>
        </p:nvSpPr>
        <p:spPr>
          <a:xfrm>
            <a:off x="64008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Step title 5"/>
          <p:cNvSpPr txBox="1"/>
          <p:nvPr/>
        </p:nvSpPr>
        <p:spPr>
          <a:xfrm>
            <a:off x="598932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Update</a:t>
            </a:r>
            <a:endParaRPr lang="en-US" sz="1400" dirty="0"/>
          </a:p>
        </p:txBody>
      </p:sp>
      <p:sp>
        <p:nvSpPr>
          <p:cNvPr id="23" name="Step text 5"/>
          <p:cNvSpPr txBox="1"/>
          <p:nvPr/>
        </p:nvSpPr>
        <p:spPr>
          <a:xfrm>
            <a:off x="598932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Load page and update usage information</a:t>
            </a:r>
            <a:endParaRPr lang="en-US" sz="1200" dirty="0"/>
          </a:p>
        </p:txBody>
      </p:sp>
      <p:sp>
        <p:nvSpPr>
          <p:cNvPr id="24" name="Step marker 6"/>
          <p:cNvSpPr/>
          <p:nvPr/>
        </p:nvSpPr>
        <p:spPr>
          <a:xfrm>
            <a:off x="7772400" y="1143000"/>
            <a:ext cx="457200" cy="4572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5" name="Step number 6"/>
          <p:cNvSpPr txBox="1"/>
          <p:nvPr/>
        </p:nvSpPr>
        <p:spPr>
          <a:xfrm>
            <a:off x="77724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Step title 6"/>
          <p:cNvSpPr txBox="1"/>
          <p:nvPr/>
        </p:nvSpPr>
        <p:spPr>
          <a:xfrm>
            <a:off x="736092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7" name="Step text 6"/>
          <p:cNvSpPr txBox="1"/>
          <p:nvPr/>
        </p:nvSpPr>
        <p:spPr>
          <a:xfrm>
            <a:off x="736092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Report faults, hits, and hit ratio</a:t>
            </a:r>
            <a:endParaRPr lang="en-US" sz="1200" dirty="0"/>
          </a:p>
        </p:txBody>
      </p:sp>
      <p:sp>
        <p:nvSpPr>
          <p:cNvPr id="28" name="Core modules card"/>
          <p:cNvSpPr/>
          <p:nvPr/>
        </p:nvSpPr>
        <p:spPr>
          <a:xfrm>
            <a:off x="457200" y="283464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29" name="Core modules card marker"/>
          <p:cNvSpPr/>
          <p:nvPr/>
        </p:nvSpPr>
        <p:spPr>
          <a:xfrm>
            <a:off x="621792" y="3017520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Core modules card heading"/>
          <p:cNvSpPr txBox="1"/>
          <p:nvPr/>
        </p:nvSpPr>
        <p:spPr>
          <a:xfrm>
            <a:off x="868680" y="2926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modules</a:t>
            </a:r>
            <a:endParaRPr lang="en-US" sz="1400" dirty="0"/>
          </a:p>
        </p:txBody>
      </p:sp>
      <p:sp>
        <p:nvSpPr>
          <p:cNvPr id="31" name="Core modules card text"/>
          <p:cNvSpPr txBox="1"/>
          <p:nvPr/>
        </p:nvSpPr>
        <p:spPr>
          <a:xfrm>
            <a:off x="621792" y="329184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Reference-string generator • FIFO • LRU • SAPR</a:t>
            </a:r>
            <a:endParaRPr lang="en-US" sz="1400" dirty="0"/>
          </a:p>
        </p:txBody>
      </p:sp>
      <p:sp>
        <p:nvSpPr>
          <p:cNvPr id="32" name="Evaluation module card"/>
          <p:cNvSpPr/>
          <p:nvPr/>
        </p:nvSpPr>
        <p:spPr>
          <a:xfrm>
            <a:off x="4663440" y="283464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33" name="Evaluation module card marker"/>
          <p:cNvSpPr/>
          <p:nvPr/>
        </p:nvSpPr>
        <p:spPr>
          <a:xfrm>
            <a:off x="4828032" y="301752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Evaluation module card heading"/>
          <p:cNvSpPr txBox="1"/>
          <p:nvPr/>
        </p:nvSpPr>
        <p:spPr>
          <a:xfrm>
            <a:off x="5074920" y="2926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Evaluation module</a:t>
            </a:r>
            <a:endParaRPr lang="en-US" sz="1400" dirty="0"/>
          </a:p>
        </p:txBody>
      </p:sp>
      <p:sp>
        <p:nvSpPr>
          <p:cNvPr id="35" name="Evaluation module card text"/>
          <p:cNvSpPr txBox="1"/>
          <p:nvPr/>
        </p:nvSpPr>
        <p:spPr>
          <a:xfrm>
            <a:off x="4828032" y="329184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Same input for all algorithms • metrics • result table</a:t>
            </a:r>
            <a:endParaRPr lang="en-US" sz="1400" dirty="0"/>
          </a:p>
        </p:txBody>
      </p:sp>
      <p:sp>
        <p:nvSpPr>
          <p:cNvPr id="36" name="Metrics definition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Metrics: </a:t>
            </a:r>
            <a:r>
              <a:rPr lang="en-US" sz="1400" dirty="0">
                <a:solidFill>
                  <a:schemeClr val="tx1"/>
                </a:solidFill>
              </a:rPr>
              <a:t>Page faults = misses that require loading a page. Hit ratio = hits ÷ total references × 100%.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6. Requirements &amp; Comparison</a:t>
            </a:r>
            <a:endParaRPr lang="en-US" sz="3200" dirty="0"/>
          </a:p>
        </p:txBody>
      </p:sp>
      <p:sp>
        <p:nvSpPr>
          <p:cNvPr id="3" name="Software card"/>
          <p:cNvSpPr/>
          <p:nvPr/>
        </p:nvSpPr>
        <p:spPr>
          <a:xfrm>
            <a:off x="457200" y="10515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4" name="Software card heading"/>
          <p:cNvSpPr txBox="1"/>
          <p:nvPr/>
        </p:nvSpPr>
        <p:spPr>
          <a:xfrm>
            <a:off x="64008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Software</a:t>
            </a:r>
            <a:endParaRPr lang="en-US" sz="1600" dirty="0"/>
          </a:p>
        </p:txBody>
      </p:sp>
      <p:sp>
        <p:nvSpPr>
          <p:cNvPr id="5" name="Software card bullets"/>
          <p:cNvSpPr txBox="1"/>
          <p:nvPr/>
        </p:nvSpPr>
        <p:spPr>
          <a:xfrm>
            <a:off x="640080" y="144475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OS: Windows / Linux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Language: Python 3 or 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Editor: VS Code / any text editor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Optional: Excel or Python plotting library</a:t>
            </a:r>
            <a:endParaRPr lang="en-US" sz="1200" dirty="0"/>
          </a:p>
        </p:txBody>
      </p:sp>
      <p:sp>
        <p:nvSpPr>
          <p:cNvPr id="6" name="Hardware card"/>
          <p:cNvSpPr/>
          <p:nvPr/>
        </p:nvSpPr>
        <p:spPr>
          <a:xfrm>
            <a:off x="4663440" y="10515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7" name="Hardware card heading"/>
          <p:cNvSpPr txBox="1"/>
          <p:nvPr/>
        </p:nvSpPr>
        <p:spPr>
          <a:xfrm>
            <a:off x="484632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Hardware</a:t>
            </a:r>
            <a:endParaRPr lang="en-US" sz="1600" dirty="0"/>
          </a:p>
        </p:txBody>
      </p:sp>
      <p:sp>
        <p:nvSpPr>
          <p:cNvPr id="8" name="Hardware card bullets"/>
          <p:cNvSpPr txBox="1"/>
          <p:nvPr/>
        </p:nvSpPr>
        <p:spPr>
          <a:xfrm>
            <a:off x="4846320" y="144475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Laptop or desktop computer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Minimum 4 GB RAM recommended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special hardware required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Internet needed only for setup/resources</a:t>
            </a:r>
            <a:endParaRPr lang="en-US" sz="1200" dirty="0"/>
          </a:p>
        </p:txBody>
      </p:sp>
      <p:sp>
        <p:nvSpPr>
          <p:cNvPr id="9" name="Section heading"/>
          <p:cNvSpPr txBox="1"/>
          <p:nvPr/>
        </p:nvSpPr>
        <p:spPr>
          <a:xfrm>
            <a:off x="457200" y="2651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Performance comparison plan</a:t>
            </a:r>
            <a:endParaRPr lang="en-US" sz="1800" dirty="0"/>
          </a:p>
        </p:txBody>
      </p:sp>
      <p:graphicFrame>
        <p:nvGraphicFramePr>
          <p:cNvPr id="1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1188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Information used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Main advantage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Main limitation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FIFO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Arrival order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Very simple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Ignores usage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LRU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Recent access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Uses locality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Tracking overhead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SAPR (proposed)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Recency + frequency + reuse estimate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Adaptive decision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Needs tuning/testing</a:t>
                      </a:r>
                      <a:endParaRPr lang="en-US" sz="1200" dirty="0"/>
                    </a:p>
                  </a:txBody>
                  <a:tcPr marT="27432" marB="27432" anchor="ctr">
                    <a:lnL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mparison note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Use identical reference strings and frame counts; report actual measured results rather than assuming SAPR always wins.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7. Conclusion</a:t>
            </a:r>
            <a:endParaRPr lang="en-US" sz="3200" dirty="0"/>
          </a:p>
        </p:txBody>
      </p:sp>
      <p:sp>
        <p:nvSpPr>
          <p:cNvPr id="3" name="Conclusion statement card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B2B2A">
                <a:alpha val="14000"/>
              </a:srgbClr>
            </a:outerShdw>
          </a:effectLst>
        </p:spPr>
      </p:sp>
      <p:sp>
        <p:nvSpPr>
          <p:cNvPr id="4" name="Conclusion statement"/>
          <p:cNvSpPr txBox="1"/>
          <p:nvPr/>
        </p:nvSpPr>
        <p:spPr>
          <a:xfrm>
            <a:off x="685800" y="10972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Smart page replacement aims to make better eviction decisions by combining multiple signals instead of relying on only arrival order or recent use.</a:t>
            </a:r>
            <a:endParaRPr lang="en-US" sz="1600" dirty="0"/>
          </a:p>
        </p:txBody>
      </p:sp>
      <p:sp>
        <p:nvSpPr>
          <p:cNvPr id="5" name="Conclusion bullets"/>
          <p:cNvSpPr txBox="1"/>
          <p:nvPr/>
        </p:nvSpPr>
        <p:spPr>
          <a:xfrm>
            <a:off x="457200" y="23774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FIFO and LRU provide clear baseline comparisons.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SAPR combines recency, frequency, and estimated reuse in one heuristic.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Simulation helps measure page faults and hit ratio across workloads.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Future work: tune weights, test more workloads, and measure runtime overhead.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75004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4" name="Closing tag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accent5"/>
                </a:solidFill>
              </a:rPr>
              <a:t>SMART PAGE REPLACEMENT ALGORITHM  •  HACKATHON PROJECT</a:t>
            </a:r>
            <a:endParaRPr lang="en-US" sz="1000" dirty="0"/>
          </a:p>
        </p:txBody>
      </p:sp>
      <p:sp>
        <p:nvSpPr>
          <p:cNvPr id="5" name="Memory frame 1"/>
          <p:cNvSpPr/>
          <p:nvPr/>
        </p:nvSpPr>
        <p:spPr>
          <a:xfrm>
            <a:off x="6035040" y="1097280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Memory frame 2"/>
          <p:cNvSpPr/>
          <p:nvPr/>
        </p:nvSpPr>
        <p:spPr>
          <a:xfrm>
            <a:off x="6894576" y="1097280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Memory frame 3"/>
          <p:cNvSpPr/>
          <p:nvPr/>
        </p:nvSpPr>
        <p:spPr>
          <a:xfrm>
            <a:off x="7754112" y="1097280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emory frame 4"/>
          <p:cNvSpPr/>
          <p:nvPr/>
        </p:nvSpPr>
        <p:spPr>
          <a:xfrm>
            <a:off x="6035040" y="1956816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emory frame 5"/>
          <p:cNvSpPr/>
          <p:nvPr/>
        </p:nvSpPr>
        <p:spPr>
          <a:xfrm>
            <a:off x="6894576" y="1956816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Memory frame 6"/>
          <p:cNvSpPr/>
          <p:nvPr/>
        </p:nvSpPr>
        <p:spPr>
          <a:xfrm>
            <a:off x="7754112" y="1956816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Memory frame 7"/>
          <p:cNvSpPr/>
          <p:nvPr/>
        </p:nvSpPr>
        <p:spPr>
          <a:xfrm>
            <a:off x="6035040" y="2816352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Memory frame 8"/>
          <p:cNvSpPr/>
          <p:nvPr/>
        </p:nvSpPr>
        <p:spPr>
          <a:xfrm>
            <a:off x="6894576" y="2816352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Memory frame 9"/>
          <p:cNvSpPr/>
          <p:nvPr/>
        </p:nvSpPr>
        <p:spPr>
          <a:xfrm>
            <a:off x="7754112" y="2816352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Memory frame 10"/>
          <p:cNvSpPr/>
          <p:nvPr/>
        </p:nvSpPr>
        <p:spPr>
          <a:xfrm>
            <a:off x="6035040" y="3675888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Memory frame 11"/>
          <p:cNvSpPr/>
          <p:nvPr/>
        </p:nvSpPr>
        <p:spPr>
          <a:xfrm>
            <a:off x="6894576" y="3675888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Memory frame 12"/>
          <p:cNvSpPr/>
          <p:nvPr/>
        </p:nvSpPr>
        <p:spPr>
          <a:xfrm>
            <a:off x="7754112" y="3675888"/>
            <a:ext cx="731520" cy="731520"/>
          </a:xfrm>
          <a:prstGeom prst="roundRect">
            <a:avLst>
              <a:gd name="adj" fmla="val 7500"/>
            </a:avLst>
          </a:prstGeom>
          <a:solidFill>
            <a:schemeClr val="accent1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emory Frames">
  <a:themeElements>
    <a:clrScheme name="Memory Frames">
      <a:dk1>
        <a:srgbClr val="0B2B2A"/>
      </a:dk1>
      <a:lt1>
        <a:srgbClr val="FFFFFF"/>
      </a:lt1>
      <a:dk2>
        <a:srgbClr val="3E5C58"/>
      </a:dk2>
      <a:lt2>
        <a:srgbClr val="EEF5F3"/>
      </a:lt2>
      <a:accent1>
        <a:srgbClr val="0F766E"/>
      </a:accent1>
      <a:accent2>
        <a:srgbClr val="F59E0B"/>
      </a:accent2>
      <a:accent3>
        <a:srgbClr val="E4572E"/>
      </a:accent3>
      <a:accent4>
        <a:srgbClr val="3B82A0"/>
      </a:accent4>
      <a:accent5>
        <a:srgbClr val="7A9E7E"/>
      </a:accent5>
      <a:accent6>
        <a:srgbClr val="6B5B95"/>
      </a:accent6>
      <a:hlink>
        <a:srgbClr val="0F766E"/>
      </a:hlink>
      <a:folHlink>
        <a:srgbClr val="6B5B95"/>
      </a:folHlink>
    </a:clrScheme>
    <a:fontScheme name="Memory Fram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775</Words>
  <Application>Microsoft Office PowerPoint</Application>
  <PresentationFormat>On-screen Show (16:9)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Memory Frames</vt:lpstr>
      <vt:lpstr>Smart Page Replacement Algorithm</vt:lpstr>
      <vt:lpstr>1. Abstract</vt:lpstr>
      <vt:lpstr>2. Introduction</vt:lpstr>
      <vt:lpstr>3. Existing System</vt:lpstr>
      <vt:lpstr>4. Proposed System — SAPR</vt:lpstr>
      <vt:lpstr>5. Work Flow / Structure</vt:lpstr>
      <vt:lpstr>6. Requirements &amp; Comparison</vt:lpstr>
      <vt:lpstr>7. Conclusion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Page Replacement Algorithm</dc:title>
  <dc:subject>PptxGenJS Presentation</dc:subject>
  <dc:creator>Hackathon Team</dc:creator>
  <cp:lastModifiedBy>Sanju</cp:lastModifiedBy>
  <cp:revision>2</cp:revision>
  <dcterms:created xsi:type="dcterms:W3CDTF">2026-10-17T05:25:36Z</dcterms:created>
  <dcterms:modified xsi:type="dcterms:W3CDTF">2026-10-17T05:35:07Z</dcterms:modified>
</cp:coreProperties>
</file>